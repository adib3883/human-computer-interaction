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jOnUzlfyM77tfTMMjJM7mxUpMY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9pPr>
          </a:lstStyle>
          <a:p/>
        </p:txBody>
      </p:sp>
      <p:sp>
        <p:nvSpPr>
          <p:cNvPr id="52" name="Google Shape;52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9pPr>
          </a:lstStyle>
          <a:p/>
        </p:txBody>
      </p:sp>
      <p:sp>
        <p:nvSpPr>
          <p:cNvPr id="68" name="Google Shape;68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/>
        </p:txBody>
      </p:sp>
      <p:sp>
        <p:nvSpPr>
          <p:cNvPr id="69" name="Google Shape;69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9pPr>
          </a:lstStyle>
          <a:p/>
        </p:txBody>
      </p:sp>
      <p:sp>
        <p:nvSpPr>
          <p:cNvPr id="70" name="Google Shape;70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/>
        </p:txBody>
      </p:sp>
      <p:sp>
        <p:nvSpPr>
          <p:cNvPr id="77" name="Google Shape;77;p31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/>
        </p:txBody>
      </p:sp>
      <p:sp>
        <p:nvSpPr>
          <p:cNvPr id="78" name="Google Shape;78;p3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9pPr>
          </a:lstStyle>
          <a:p/>
        </p:txBody>
      </p:sp>
      <p:sp>
        <p:nvSpPr>
          <p:cNvPr id="84" name="Google Shape;84;p3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56687" y="1066800"/>
            <a:ext cx="87312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1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2;p21"/>
          <p:cNvGrpSpPr/>
          <p:nvPr/>
        </p:nvGrpSpPr>
        <p:grpSpPr>
          <a:xfrm>
            <a:off x="0" y="228600"/>
            <a:ext cx="9144000" cy="838200"/>
            <a:chOff x="0" y="192"/>
            <a:chExt cx="5760" cy="528"/>
          </a:xfrm>
        </p:grpSpPr>
        <p:sp>
          <p:nvSpPr>
            <p:cNvPr id="13" name="Google Shape;13;p21"/>
            <p:cNvSpPr txBox="1"/>
            <p:nvPr/>
          </p:nvSpPr>
          <p:spPr>
            <a:xfrm>
              <a:off x="5232" y="528"/>
              <a:ext cx="528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" name="Google Shape;14;p21"/>
            <p:cNvCxnSpPr/>
            <p:nvPr/>
          </p:nvCxnSpPr>
          <p:spPr>
            <a:xfrm>
              <a:off x="1872" y="192"/>
              <a:ext cx="2976" cy="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pic>
          <p:nvPicPr>
            <p:cNvPr id="15" name="Google Shape;1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449" y="192"/>
              <a:ext cx="1063" cy="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2"/>
              <a:ext cx="2016" cy="1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52" y="192"/>
              <a:ext cx="1008" cy="48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type="ctrTitle"/>
          </p:nvPr>
        </p:nvSpPr>
        <p:spPr>
          <a:xfrm>
            <a:off x="1219200" y="1981200"/>
            <a:ext cx="6629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005D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rgbClr val="2E005D"/>
                </a:solidFill>
                <a:latin typeface="Verdana"/>
                <a:ea typeface="Verdana"/>
                <a:cs typeface="Verdana"/>
                <a:sym typeface="Verdana"/>
              </a:rPr>
              <a:t>chapter 7</a:t>
            </a:r>
            <a:endParaRPr/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1371600" y="3352800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ic Sans MS"/>
              <a:buNone/>
            </a:pPr>
            <a:r>
              <a:rPr b="0" i="0" lang="en-US" sz="4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rules</a:t>
            </a:r>
            <a:endParaRPr/>
          </a:p>
        </p:txBody>
      </p:sp>
      <p:grpSp>
        <p:nvGrpSpPr>
          <p:cNvPr id="93" name="Google Shape;93;p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94" name="Google Shape;94;p1"/>
            <p:cNvSpPr txBox="1"/>
            <p:nvPr/>
          </p:nvSpPr>
          <p:spPr>
            <a:xfrm>
              <a:off x="5136" y="528"/>
              <a:ext cx="624" cy="37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0"/>
              <a:ext cx="5760" cy="672"/>
            </a:xfrm>
            <a:prstGeom prst="rect">
              <a:avLst/>
            </a:prstGeom>
            <a:solidFill>
              <a:srgbClr val="2E005D"/>
            </a:solidFill>
            <a:ln cap="flat" cmpd="sng" w="9525">
              <a:solidFill>
                <a:srgbClr val="2E005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96" name="Google Shape;96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12" y="0"/>
              <a:ext cx="3264" cy="6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00" y="0"/>
              <a:ext cx="672" cy="6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672" cy="6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80" y="0"/>
              <a:ext cx="176" cy="6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84" y="0"/>
              <a:ext cx="176" cy="67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type="title"/>
          </p:nvPr>
        </p:nvSpPr>
        <p:spPr>
          <a:xfrm>
            <a:off x="685800" y="637615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rules</a:t>
            </a:r>
            <a:endParaRPr/>
          </a:p>
        </p:txBody>
      </p:sp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Designing for maximum usability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– the goal of interaction design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Principles of usability</a:t>
            </a:r>
            <a:endParaRPr/>
          </a:p>
          <a:p>
            <a:pPr indent="-285750" lvl="1" marL="11366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 understanding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Standards and guidelines</a:t>
            </a:r>
            <a:endParaRPr/>
          </a:p>
          <a:p>
            <a:pPr indent="-285750" lvl="1" marL="11366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direction for design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 patterns</a:t>
            </a:r>
            <a:endParaRPr/>
          </a:p>
          <a:p>
            <a:pPr indent="-285750" lvl="1" marL="11366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capture and reuse design knowledge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dimensions of design rules</a:t>
            </a:r>
            <a:endParaRPr/>
          </a:p>
        </p:txBody>
      </p:sp>
      <p:sp>
        <p:nvSpPr>
          <p:cNvPr id="112" name="Google Shape;112;p3"/>
          <p:cNvSpPr txBox="1"/>
          <p:nvPr>
            <p:ph idx="1" type="body"/>
          </p:nvPr>
        </p:nvSpPr>
        <p:spPr>
          <a:xfrm>
            <a:off x="0" y="2286000"/>
            <a:ext cx="84963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can classify these rules along two dimensions, based on: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- the rule’s authority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- rule’s generality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Authority means an indication of whether or not the rule must be followed in design or whether it is only suggested.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generality mean whether the rule can be applied to many design situations or whether it is focused on a more limited application situation.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types of design rules</a:t>
            </a:r>
            <a:endParaRPr/>
          </a:p>
        </p:txBody>
      </p:sp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685800" y="1995207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principles</a:t>
            </a:r>
            <a:endParaRPr b="0" i="0" sz="2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1327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abstract design rules</a:t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1327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low authority</a:t>
            </a:r>
            <a:endParaRPr/>
          </a:p>
          <a:p>
            <a:pPr indent="-285750" lvl="1" marL="1327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high generality</a:t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standards</a:t>
            </a:r>
            <a:endParaRPr b="0" i="0" sz="2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1327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specific design rules</a:t>
            </a:r>
            <a:endParaRPr/>
          </a:p>
          <a:p>
            <a:pPr indent="-285750" lvl="1" marL="1327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high authority</a:t>
            </a:r>
            <a:endParaRPr/>
          </a:p>
          <a:p>
            <a:pPr indent="-285750" lvl="1" marL="1327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limited application</a:t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guidelines</a:t>
            </a:r>
            <a:endParaRPr/>
          </a:p>
          <a:p>
            <a:pPr indent="-285750" lvl="1" marL="1327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lower authority</a:t>
            </a:r>
            <a:endParaRPr/>
          </a:p>
          <a:p>
            <a:pPr indent="-285750" lvl="1" marL="1327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more general application</a:t>
            </a:r>
            <a:endParaRPr/>
          </a:p>
        </p:txBody>
      </p:sp>
      <p:grpSp>
        <p:nvGrpSpPr>
          <p:cNvPr id="119" name="Google Shape;119;p4"/>
          <p:cNvGrpSpPr/>
          <p:nvPr/>
        </p:nvGrpSpPr>
        <p:grpSpPr>
          <a:xfrm>
            <a:off x="5410200" y="2667000"/>
            <a:ext cx="2973387" cy="2971800"/>
            <a:chOff x="3263" y="774"/>
            <a:chExt cx="1873" cy="1872"/>
          </a:xfrm>
        </p:grpSpPr>
        <p:graphicFrame>
          <p:nvGraphicFramePr>
            <p:cNvPr id="120" name="Google Shape;120;p4"/>
            <p:cNvGraphicFramePr/>
            <p:nvPr/>
          </p:nvGraphicFramePr>
          <p:xfrm>
            <a:off x="3264" y="774"/>
            <a:ext cx="1872" cy="1872"/>
          </p:xfrm>
          <a:graphic>
            <a:graphicData uri="http://schemas.openxmlformats.org/presentationml/2006/ole">
              <mc:AlternateContent>
                <mc:Choice Requires="v">
                  <p:oleObj r:id="rId4" imgH="1872" imgW="1872" progId="Word.Picture.8" spid="_x0000_s1">
                    <p:embed/>
                  </p:oleObj>
                </mc:Choice>
                <mc:Fallback>
                  <p:oleObj r:id="rId5" imgH="1872" imgW="1872" progId="Word.Picture.8">
                    <p:embed/>
                    <p:pic>
                      <p:nvPicPr>
                        <p:cNvPr id="120" name="Google Shape;120;p4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264" y="774"/>
                          <a:ext cx="1872" cy="18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1" name="Google Shape;121;p4"/>
            <p:cNvSpPr txBox="1"/>
            <p:nvPr/>
          </p:nvSpPr>
          <p:spPr>
            <a:xfrm>
              <a:off x="3648" y="2428"/>
              <a:ext cx="1248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increasing authority</a:t>
              </a:r>
              <a:endParaRPr/>
            </a:p>
          </p:txBody>
        </p:sp>
        <p:sp>
          <p:nvSpPr>
            <p:cNvPr id="122" name="Google Shape;122;p4"/>
            <p:cNvSpPr txBox="1"/>
            <p:nvPr/>
          </p:nvSpPr>
          <p:spPr>
            <a:xfrm rot="-5400000">
              <a:off x="2735" y="1583"/>
              <a:ext cx="1248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increasing generality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Principles to support usability</a:t>
            </a:r>
            <a:endParaRPr/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Learnability</a:t>
            </a:r>
            <a:endParaRPr/>
          </a:p>
          <a:p>
            <a:pPr indent="6350" lvl="1" marL="3746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ease with which new users can begin effective interaction and achieve maximal performance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Flexibility</a:t>
            </a:r>
            <a:endParaRPr/>
          </a:p>
          <a:p>
            <a:pPr indent="6350" lvl="1" marL="3746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multiplicity of ways the user and system exchange information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Robustness</a:t>
            </a:r>
            <a:endParaRPr/>
          </a:p>
          <a:p>
            <a:pPr indent="6350" lvl="1" marL="3746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level of support provided the user in determining successful achievement and assessment of goal-directed behaviour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Principles of learnability</a:t>
            </a:r>
            <a:endParaRPr/>
          </a:p>
        </p:txBody>
      </p:sp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Predictability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determining effect of future actions based on past interaction history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operation visibility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Synthesizability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assessing the effect of past actions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immediate vs. eventual honesty</a:t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Principles of learnability (ctd)</a:t>
            </a:r>
            <a:endParaRPr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Familiarity</a:t>
            </a:r>
            <a:endParaRPr/>
          </a:p>
          <a:p>
            <a:pPr indent="-273050" lvl="1" marL="565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prior knowledge applies to new system</a:t>
            </a:r>
            <a:endParaRPr/>
          </a:p>
          <a:p>
            <a:pPr indent="-273050" lvl="1" marL="565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guessability; affordance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Generalizability</a:t>
            </a:r>
            <a:endParaRPr/>
          </a:p>
          <a:p>
            <a:pPr indent="-273050" lvl="1" marL="565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extending specific interaction knowledge to new situations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Consistency</a:t>
            </a:r>
            <a:endParaRPr/>
          </a:p>
          <a:p>
            <a:pPr indent="-273050" lvl="1" marL="565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likeness in input/output behaviour arising from similar situations or task objectives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Principles of flexibility</a:t>
            </a:r>
            <a:endParaRPr/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Dialogue initiative</a:t>
            </a:r>
            <a:endParaRPr/>
          </a:p>
          <a:p>
            <a:pPr indent="-273050" lvl="1" marL="565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freedom from system imposed constraints on input dialogue</a:t>
            </a:r>
            <a:endParaRPr/>
          </a:p>
          <a:p>
            <a:pPr indent="-273050" lvl="1" marL="565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system vs. user pre-emptiveness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Multithreading</a:t>
            </a:r>
            <a:endParaRPr/>
          </a:p>
          <a:p>
            <a:pPr indent="-273050" lvl="1" marL="565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ability of system to support user interaction for more than one task at a time</a:t>
            </a:r>
            <a:endParaRPr/>
          </a:p>
          <a:p>
            <a:pPr indent="-273050" lvl="1" marL="565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concurrent vs. interleaving; multimodality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Task migratability</a:t>
            </a:r>
            <a:endParaRPr/>
          </a:p>
          <a:p>
            <a:pPr indent="-273050" lvl="1" marL="5651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passing responsibility for task execution between user and system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Principles of flexibility (ctd)</a:t>
            </a:r>
            <a:endParaRPr/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Substitutivity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allowing equivalent values of input and output to be substituted for each other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representation multiplicity; equal opportunity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Customizability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modifiability of the user interface by user (adaptability) or system (adaptivity)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Principles of robustness</a:t>
            </a:r>
            <a:endParaRPr/>
          </a:p>
        </p:txBody>
      </p:sp>
      <p:sp>
        <p:nvSpPr>
          <p:cNvPr id="158" name="Google Shape;158;p1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Observability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ability of user to evaluate the internal state of the system from its perceivable representation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browsability; defaults; reachability; persistence; operation visibility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Recoverability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ability of user to take corrective action once an error has been recognized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reachability; forward/backward recovery; commensurate effort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Principles of robustness (ctd)</a:t>
            </a:r>
            <a:endParaRPr/>
          </a:p>
        </p:txBody>
      </p:sp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Responsiveness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the user perceives the rate of communication with the system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Stability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Task conformance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degree to which system services support all of the user's tasks</a:t>
            </a:r>
            <a:endParaRPr/>
          </a:p>
          <a:p>
            <a:pPr indent="-273050" lvl="1" marL="5651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task completeness; task adequacy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Using design rules</a:t>
            </a:r>
            <a:endParaRPr/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 rules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suggest how to increase usability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differ in generality and authority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71" name="Google Shape;171;p12"/>
          <p:cNvGrpSpPr/>
          <p:nvPr/>
        </p:nvGrpSpPr>
        <p:grpSpPr>
          <a:xfrm>
            <a:off x="5637212" y="1371600"/>
            <a:ext cx="2670175" cy="2819400"/>
            <a:chOff x="3262" y="774"/>
            <a:chExt cx="1874" cy="1872"/>
          </a:xfrm>
        </p:grpSpPr>
        <p:graphicFrame>
          <p:nvGraphicFramePr>
            <p:cNvPr id="172" name="Google Shape;172;p12"/>
            <p:cNvGraphicFramePr/>
            <p:nvPr/>
          </p:nvGraphicFramePr>
          <p:xfrm>
            <a:off x="3264" y="774"/>
            <a:ext cx="1872" cy="1872"/>
          </p:xfrm>
          <a:graphic>
            <a:graphicData uri="http://schemas.openxmlformats.org/presentationml/2006/ole">
              <mc:AlternateContent>
                <mc:Choice Requires="v">
                  <p:oleObj r:id="rId4" imgH="1872" imgW="1872" progId="Word.Picture.8" spid="_x0000_s1">
                    <p:embed/>
                  </p:oleObj>
                </mc:Choice>
                <mc:Fallback>
                  <p:oleObj r:id="rId5" imgH="1872" imgW="1872" progId="Word.Picture.8">
                    <p:embed/>
                    <p:pic>
                      <p:nvPicPr>
                        <p:cNvPr id="172" name="Google Shape;172;p12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264" y="774"/>
                          <a:ext cx="1872" cy="18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3" name="Google Shape;173;p12"/>
            <p:cNvSpPr txBox="1"/>
            <p:nvPr/>
          </p:nvSpPr>
          <p:spPr>
            <a:xfrm>
              <a:off x="3649" y="2428"/>
              <a:ext cx="1247" cy="2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increasing authority</a:t>
              </a:r>
              <a:endParaRPr/>
            </a:p>
          </p:txBody>
        </p:sp>
        <p:sp>
          <p:nvSpPr>
            <p:cNvPr id="174" name="Google Shape;174;p12"/>
            <p:cNvSpPr txBox="1"/>
            <p:nvPr/>
          </p:nvSpPr>
          <p:spPr>
            <a:xfrm rot="-5400000">
              <a:off x="2745" y="1570"/>
              <a:ext cx="1248" cy="21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increasing generality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Standards</a:t>
            </a:r>
            <a:endParaRPr/>
          </a:p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set by national or international bodies to ensure compliance by a large community of designers standards require sound underlying theory and slowly changing technology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hardware standards more common than software high authority and low level of detail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ISO 9241 defines usability as effectiveness, efficiency and satisfaction with which users accomplish tasks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Guidelines</a:t>
            </a:r>
            <a:endParaRPr/>
          </a:p>
        </p:txBody>
      </p:sp>
      <p:sp>
        <p:nvSpPr>
          <p:cNvPr id="186" name="Google Shape;186;p14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more suggestive and general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many textbooks and reports full of guidelines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abstract guidelines (principles) applicable during early life cycle activities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detailed guidelines (style guides) applicable during later life cycle activities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understanding justification for guidelines aids in resolving conflicts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Golden rules and heuristics</a:t>
            </a:r>
            <a:endParaRPr/>
          </a:p>
        </p:txBody>
      </p:sp>
      <p:sp>
        <p:nvSpPr>
          <p:cNvPr id="192" name="Google Shape;192;p15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“Broad brush” design rules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Useful check list for good design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Better design using these than using nothing!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Different collections e.g.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Nielsen’s 10 Heuristics (see Chapter 9)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Shneiderman’s 8 Golden Rules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Norman’s 7 Principles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Shneiderman’s 8 Golden Rules</a:t>
            </a:r>
            <a:endParaRPr/>
          </a:p>
        </p:txBody>
      </p:sp>
      <p:sp>
        <p:nvSpPr>
          <p:cNvPr id="198" name="Google Shape;198;p1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 Strive for consistency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Enable frequent users to use shortcuts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 Offer informative feedback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4. Design dialogs to yield closure </a:t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5. Offer error prevention and simple error handling </a:t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6. Permit easy reversal of actions </a:t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7. Support internal locus of control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8. </a:t>
            </a: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Reduce short-term memory load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Norman’s 7 Principles</a:t>
            </a:r>
            <a:endParaRPr/>
          </a:p>
        </p:txBody>
      </p:sp>
      <p:sp>
        <p:nvSpPr>
          <p:cNvPr id="204" name="Google Shape;204;p1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 Use both knowledge in the world and   knowledge in the head.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Simplify the structure of tasks.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 Make things visible: bridge the gulfs of  Execution and Evaluation.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4. Get the mappings right.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5. Exploit the power of constraints, both natural and artificial.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6. Design for error.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7. When all else fails, standardize.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HCI design patterns</a:t>
            </a:r>
            <a:endParaRPr/>
          </a:p>
        </p:txBody>
      </p:sp>
      <p:sp>
        <p:nvSpPr>
          <p:cNvPr id="210" name="Google Shape;210;p1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approach to reusing knowledge about successful design solutions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Originated in architecture: Alexander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pattern is an invariant solution to a recurrent problem within a specific context.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Examples</a:t>
            </a:r>
            <a:endParaRPr b="0" i="0" sz="2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Light on Two Sides of Every Room (architecture)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 back to a safe place (HCI)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Patterns do not exist in isolation but are linked to other patterns in </a:t>
            </a: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languages 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which enable complete designs to be generated</a:t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HCI design patterns (cont.)</a:t>
            </a:r>
            <a:endParaRPr/>
          </a:p>
        </p:txBody>
      </p:sp>
      <p:sp>
        <p:nvSpPr>
          <p:cNvPr id="216" name="Google Shape;216;p19"/>
          <p:cNvSpPr txBox="1"/>
          <p:nvPr>
            <p:ph idx="1" type="body"/>
          </p:nvPr>
        </p:nvSpPr>
        <p:spPr>
          <a:xfrm>
            <a:off x="685800" y="1828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Characteristics of patterns</a:t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capture design practice not theory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capture the essential common properties of good examples of design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represent design knowledge at varying levels: social, organisational, conceptual, detailed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embody values and can express what is humane in interface design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intuitive and readable and can therefore be used for communication between all stakeholders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pattern language should be generative and assist in the development of complete designs.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type="title"/>
          </p:nvPr>
        </p:nvSpPr>
        <p:spPr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222" name="Google Shape;222;p2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Principles for usability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repeatable design for usability relies on maximizing benefit of one good design by abstracting out the general properties which can direct purposeful design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success of designing for usability requires both creative insight (new paradigms) and purposeful principled practice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Using design rules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standards and guidelines to direct design activity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2003-08-07T14:10:51Z</dcterms:created>
  <dc:creator>Alan Dix</dc:creator>
</cp:coreProperties>
</file>