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0"/>
  </p:notesMasterIdLst>
  <p:handoutMasterIdLst>
    <p:handoutMasterId r:id="rId11"/>
  </p:handoutMasterIdLst>
  <p:sldIdLst>
    <p:sldId id="328" r:id="rId2"/>
    <p:sldId id="332" r:id="rId3"/>
    <p:sldId id="329" r:id="rId4"/>
    <p:sldId id="333" r:id="rId5"/>
    <p:sldId id="330" r:id="rId6"/>
    <p:sldId id="334" r:id="rId7"/>
    <p:sldId id="331" r:id="rId8"/>
    <p:sldId id="335" r:id="rId9"/>
  </p:sldIdLst>
  <p:sldSz cx="9144000" cy="5143500" type="screen16x9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cse202424@outlook.com" initials="" lastIdx="1" clrIdx="0">
    <p:extLst>
      <p:ext uri="{19B8F6BF-5375-455C-9EA6-DF929625EA0E}">
        <p15:presenceInfo xmlns:p15="http://schemas.microsoft.com/office/powerpoint/2012/main" userId="f40c5782ffdfa965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548" autoAdjust="0"/>
    <p:restoredTop sz="92449" autoAdjust="0"/>
  </p:normalViewPr>
  <p:slideViewPr>
    <p:cSldViewPr>
      <p:cViewPr varScale="1">
        <p:scale>
          <a:sx n="96" d="100"/>
          <a:sy n="96" d="100"/>
        </p:scale>
        <p:origin x="1090" y="72"/>
      </p:cViewPr>
      <p:guideLst>
        <p:guide orient="horz" pos="162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commentAuthors" Target="commentAuthors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handoutMaster" Target="handoutMasters/handoutMaster1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F9518A1-6615-4CC8-885A-F1FDCB83D39B}" type="datetimeFigureOut">
              <a:rPr lang="en-US" smtClean="0"/>
              <a:t>9/5/2026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AC1FAA8-5773-4D55-B4E1-786BB454B84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6281693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09DF957-D72C-49A8-9D7E-B8BCA5E4BC02}" type="datetimeFigureOut">
              <a:rPr lang="en-US" smtClean="0"/>
              <a:t>9/5/2026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6B491AB-B174-448A-88CD-1F6165C6FC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085940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716735-4F2D-B4AA-9511-3C42A3C241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F9B2135-4140-3474-80F8-2FC03C288D5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665EDD7-6A8E-A945-FC5A-ABB117B39B8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B440D3F-1AB7-4DB3-EA7E-6B58E31DB13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6B491AB-B174-448A-88CD-1F6165C6FC0E}" type="slidenum">
              <a:rPr lang="en-US" smtClean="0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7491197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799502-A064-4E0F-836F-2C59899034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DEB5901-8D6C-83FF-5342-7D68FA8D1E0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8219ABB-0CA2-C436-EECB-A8300198967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EB93F36-11E9-AA27-3E06-05FD1545CDF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6B491AB-B174-448A-88CD-1F6165C6FC0E}" type="slidenum">
              <a:rPr lang="en-US" smtClean="0"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5063105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B29CE2-7BD0-1FF4-26D8-FDEAF0301C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799D5C3-1D74-4857-14E3-77BDEF71BEF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9A23C6C-632F-BD06-9FD4-8FFE2F2B019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5E838D5-C299-738B-A051-5C269D7C706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6B491AB-B174-448A-88CD-1F6165C6FC0E}" type="slidenum">
              <a:rPr lang="en-US" smtClean="0"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5593137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011B57-EF6E-E672-D2AE-8CB9C523C9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A3B67D1-A728-F17A-A501-9B65EF0C392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09A153E-95DF-0255-E380-4AAB9AF8C30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8CE6885-5F63-546B-0D37-EC06A5A5727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6B491AB-B174-448A-88CD-1F6165C6FC0E}" type="slidenum">
              <a:rPr lang="en-US" smtClean="0"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8916528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EC71E7-B32D-A4F1-7F55-0C47E8B6D6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AB5E757-5146-6F1A-AEAE-2ABCA09837C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9EE11D0-D1BF-27B6-48CD-E036956AA08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7CBDCFA-BF5E-D2E1-0B35-0382C0E8B91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6B491AB-B174-448A-88CD-1F6165C6FC0E}" type="slidenum">
              <a:rPr lang="en-US" smtClean="0"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185583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A00E1A-94FF-D335-AA67-F06AEDD6AC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06B6EBC-6318-1E11-CFBC-56529A0F292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52FA5E5-D457-FFED-BDF3-D5D43F09364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2AC9449-2058-C11F-1735-6C4A905CF73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6B491AB-B174-448A-88CD-1F6165C6FC0E}" type="slidenum">
              <a:rPr lang="en-US" smtClean="0"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9742262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EAAF9D-18F5-4B16-2E8F-EC99F67A12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B382A5D-26DD-70DD-FC5C-7B9838F3855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2929277-1750-F52E-C664-4082F116D45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0AD1326-35F9-E8AF-EB59-A3CAFDAE640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6B491AB-B174-448A-88CD-1F6165C6FC0E}" type="slidenum">
              <a:rPr lang="en-US" smtClean="0"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0437984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6F219C-4752-D6D0-5767-1ABBAB0A0E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C597E16-5194-5DAA-FBB3-F448B1D174E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1625BBC-52DE-58AF-2580-A8483ED4D83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4314292-5FB3-F104-C3F4-066671FBFB2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6B491AB-B174-448A-88CD-1F6165C6FC0E}" type="slidenum">
              <a:rPr lang="en-US" smtClean="0"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4547147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716E57-04BB-451E-A311-03F4AFA3704A}" type="datetime1">
              <a:rPr lang="en-US" smtClean="0"/>
              <a:t>9/5/2026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F15FD7-89C1-40E4-8782-FD9F8F91FA61}" type="datetime1">
              <a:rPr lang="en-US" smtClean="0"/>
              <a:t>9/5/2026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59AA42-9128-4FC7-8611-343A8C5C92A0}" type="datetime1">
              <a:rPr lang="en-US" smtClean="0"/>
              <a:t>9/5/2026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7AD1D7-46E6-4666-9169-55EFC2D88CA9}" type="datetime1">
              <a:rPr lang="en-US" smtClean="0"/>
              <a:t>9/5/2026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313CBC-F3F4-4FB4-B00C-2789FAB7EF17}" type="datetime1">
              <a:rPr lang="en-US" smtClean="0"/>
              <a:t>9/5/2026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24CB8D-56ED-4518-9FC7-1242BF0E636E}" type="datetime1">
              <a:rPr lang="en-US" smtClean="0"/>
              <a:t>9/5/2026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787551-2201-4523-9B3E-2D000059AF11}" type="datetime1">
              <a:rPr lang="en-US" smtClean="0"/>
              <a:t>9/5/2026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951717-A7BF-4999-A351-EA50C650C96A}" type="datetime1">
              <a:rPr lang="en-US" smtClean="0"/>
              <a:t>9/5/2026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C3DCFA-E6B1-4E48-94DF-25A8CD5D608E}" type="datetime1">
              <a:rPr lang="en-US" smtClean="0"/>
              <a:t>9/5/2026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174918-290C-41D0-B8E6-8F8A9E3AFBD7}" type="datetime1">
              <a:rPr lang="en-US" smtClean="0"/>
              <a:t>9/5/2026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A239AC-A91B-4DCB-8137-77AEBE6CD9F5}" type="datetime1">
              <a:rPr lang="en-US" smtClean="0"/>
              <a:t>9/5/2026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pattFill prst="pct5">
          <a:fgClr>
            <a:schemeClr val="accent5">
              <a:lumMod val="40000"/>
              <a:lumOff val="60000"/>
            </a:schemeClr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A59FCBB-633D-4637-BAC9-1F46832926C4}" type="datetime1">
              <a:rPr lang="en-US" smtClean="0"/>
              <a:t>9/5/2026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1.pn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0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0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png"/><Relationship Id="rId3" Type="http://schemas.openxmlformats.org/officeDocument/2006/relationships/image" Target="../media/image1.png"/><Relationship Id="rId7" Type="http://schemas.openxmlformats.org/officeDocument/2006/relationships/image" Target="../media/image19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4" Type="http://schemas.openxmlformats.org/officeDocument/2006/relationships/image" Target="../media/image16.png"/><Relationship Id="rId9" Type="http://schemas.openxmlformats.org/officeDocument/2006/relationships/image" Target="../media/image2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A670B4-0CE3-212D-9B5D-476DD8D2FD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90A2B54-E6E6-DCFE-DFE0-087E31D431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</a:t>
            </a:fld>
            <a:endParaRPr lang="en-US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3C261ED-B9DE-2F08-45FD-C6043B7C0C69}"/>
              </a:ext>
            </a:extLst>
          </p:cNvPr>
          <p:cNvSpPr/>
          <p:nvPr/>
        </p:nvSpPr>
        <p:spPr>
          <a:xfrm>
            <a:off x="0" y="595631"/>
            <a:ext cx="9138021" cy="45719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36AB317-CE7B-58F2-4701-342EF9EDAF3A}"/>
              </a:ext>
            </a:extLst>
          </p:cNvPr>
          <p:cNvSpPr/>
          <p:nvPr/>
        </p:nvSpPr>
        <p:spPr>
          <a:xfrm>
            <a:off x="0" y="4802697"/>
            <a:ext cx="9138021" cy="45719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7BE03419-188F-6565-A330-59A190C2E40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3647" y="37032"/>
            <a:ext cx="687682" cy="557879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0F9E16D-2A9D-48C9-D816-A3E2A558308B}"/>
              </a:ext>
            </a:extLst>
          </p:cNvPr>
          <p:cNvSpPr txBox="1"/>
          <p:nvPr/>
        </p:nvSpPr>
        <p:spPr>
          <a:xfrm>
            <a:off x="0" y="4863155"/>
            <a:ext cx="2209800" cy="261610"/>
          </a:xfrm>
          <a:prstGeom prst="rect">
            <a:avLst/>
          </a:prstGeom>
          <a:solidFill>
            <a:schemeClr val="accent1">
              <a:lumMod val="50000"/>
            </a:schemeClr>
          </a:solidFill>
          <a:scene3d>
            <a:camera prst="orthographicFront"/>
            <a:lightRig rig="threePt" dir="t"/>
          </a:scene3d>
          <a:sp3d>
            <a:bevelT/>
          </a:sp3d>
        </p:spPr>
        <p:txBody>
          <a:bodyPr wrap="square" rtlCol="0">
            <a:spAutoFit/>
          </a:bodyPr>
          <a:lstStyle/>
          <a:p>
            <a:pPr algn="ctr"/>
            <a:r>
              <a:rPr lang="en-US" sz="1100" b="1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06 / 07 Sep 2026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95E34D1-F7E6-276A-B61E-08819170E7DA}"/>
              </a:ext>
            </a:extLst>
          </p:cNvPr>
          <p:cNvSpPr txBox="1"/>
          <p:nvPr/>
        </p:nvSpPr>
        <p:spPr>
          <a:xfrm>
            <a:off x="1362728" y="95029"/>
            <a:ext cx="70866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0" algn="ctr">
              <a:buNone/>
            </a:pPr>
            <a:r>
              <a:rPr lang="en-US" sz="2000" dirty="0">
                <a:latin typeface="Arial" pitchFamily="34" charset="0"/>
                <a:cs typeface="Arial" pitchFamily="34" charset="0"/>
              </a:rPr>
              <a:t>Fitts's Law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4D660E6-23F5-7066-3DC6-FEE74F92532D}"/>
              </a:ext>
            </a:extLst>
          </p:cNvPr>
          <p:cNvSpPr txBox="1"/>
          <p:nvPr/>
        </p:nvSpPr>
        <p:spPr>
          <a:xfrm>
            <a:off x="330194" y="741842"/>
            <a:ext cx="866140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dirty="0"/>
              <a:t>A predictive model of human movement stating that the time required to rapidly point to a target depends on its distance and size. </a:t>
            </a: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BB5FC855-28B2-0EBF-98A4-E4CA461CA9D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89259" y="1703050"/>
            <a:ext cx="5170440" cy="2575727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DDE5C8BE-15C2-E440-7381-9FCA4DD81A3D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41579" y="1367047"/>
            <a:ext cx="4018878" cy="10900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352282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83626"/>
    </mc:Choice>
    <mc:Fallback xmlns="">
      <p:transition spd="slow" advTm="83626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9D4336-64C2-3681-8448-056AA11055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484B862-946C-6CBA-3759-64A724500F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2</a:t>
            </a:fld>
            <a:endParaRPr lang="en-US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EDE0167-DAC8-2695-94DD-7CE7618FFAD4}"/>
              </a:ext>
            </a:extLst>
          </p:cNvPr>
          <p:cNvSpPr/>
          <p:nvPr/>
        </p:nvSpPr>
        <p:spPr>
          <a:xfrm>
            <a:off x="0" y="595631"/>
            <a:ext cx="9138021" cy="45719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9C4E068D-E932-3C3A-EC28-53773C2EA52D}"/>
              </a:ext>
            </a:extLst>
          </p:cNvPr>
          <p:cNvSpPr/>
          <p:nvPr/>
        </p:nvSpPr>
        <p:spPr>
          <a:xfrm>
            <a:off x="0" y="4802697"/>
            <a:ext cx="9138021" cy="45719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AC26BF7C-422D-7A5F-C387-120C6FFFB52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3647" y="37032"/>
            <a:ext cx="687682" cy="557879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D01C2955-3FB0-D0EE-1369-BCA58FD4B3E3}"/>
              </a:ext>
            </a:extLst>
          </p:cNvPr>
          <p:cNvSpPr txBox="1"/>
          <p:nvPr/>
        </p:nvSpPr>
        <p:spPr>
          <a:xfrm>
            <a:off x="1362728" y="95029"/>
            <a:ext cx="70866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0" algn="ctr">
              <a:buNone/>
            </a:pPr>
            <a:r>
              <a:rPr lang="en-US" sz="2000" dirty="0">
                <a:latin typeface="Arial" pitchFamily="34" charset="0"/>
                <a:cs typeface="Arial" pitchFamily="34" charset="0"/>
              </a:rPr>
              <a:t>Fitts's Law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067B8330-EA15-3FB1-7072-40AEE542D3F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741842"/>
            <a:ext cx="4473328" cy="2110923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9AE230CA-F7F5-9E7C-78A0-389A016FC043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0251" y="3137596"/>
            <a:ext cx="4126949" cy="1218343"/>
          </a:xfrm>
          <a:prstGeom prst="rect">
            <a:avLst/>
          </a:prstGeom>
        </p:spPr>
      </p:pic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56B0834C-37ED-D4AE-2708-7A84A41665B8}"/>
              </a:ext>
            </a:extLst>
          </p:cNvPr>
          <p:cNvCxnSpPr/>
          <p:nvPr/>
        </p:nvCxnSpPr>
        <p:spPr>
          <a:xfrm>
            <a:off x="4585252" y="1044904"/>
            <a:ext cx="0" cy="335390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7" name="Picture 16">
            <a:extLst>
              <a:ext uri="{FF2B5EF4-FFF2-40B4-BE49-F238E27FC236}">
                <a16:creationId xmlns:a16="http://schemas.microsoft.com/office/drawing/2014/main" id="{0BE9E257-6A34-982B-A392-B691081FEC4E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86400" y="646148"/>
            <a:ext cx="2765158" cy="2047090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43CF9A3C-04F5-14D4-4A04-FD0C217E4E03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31425" y="2705745"/>
            <a:ext cx="3056518" cy="1559363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D604B16B-92E7-8B9D-7405-EE41ED393873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03305" y="4217669"/>
            <a:ext cx="4100444" cy="570290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43184C26-2B1C-0452-7DB5-B7A4832CACB6}"/>
              </a:ext>
            </a:extLst>
          </p:cNvPr>
          <p:cNvSpPr txBox="1"/>
          <p:nvPr/>
        </p:nvSpPr>
        <p:spPr>
          <a:xfrm>
            <a:off x="0" y="4863155"/>
            <a:ext cx="2209800" cy="261610"/>
          </a:xfrm>
          <a:prstGeom prst="rect">
            <a:avLst/>
          </a:prstGeom>
          <a:solidFill>
            <a:schemeClr val="accent1">
              <a:lumMod val="50000"/>
            </a:schemeClr>
          </a:solidFill>
          <a:scene3d>
            <a:camera prst="orthographicFront"/>
            <a:lightRig rig="threePt" dir="t"/>
          </a:scene3d>
          <a:sp3d>
            <a:bevelT/>
          </a:sp3d>
        </p:spPr>
        <p:txBody>
          <a:bodyPr wrap="square" rtlCol="0">
            <a:spAutoFit/>
          </a:bodyPr>
          <a:lstStyle/>
          <a:p>
            <a:pPr algn="ctr"/>
            <a:r>
              <a:rPr lang="en-US" sz="1100" b="1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06 / 07 Sep 2026</a:t>
            </a:r>
          </a:p>
        </p:txBody>
      </p:sp>
    </p:spTree>
    <p:extLst>
      <p:ext uri="{BB962C8B-B14F-4D97-AF65-F5344CB8AC3E}">
        <p14:creationId xmlns:p14="http://schemas.microsoft.com/office/powerpoint/2010/main" val="20369568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53548"/>
    </mc:Choice>
    <mc:Fallback xmlns="">
      <p:transition spd="slow" advTm="53548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C7201E-EB89-F888-E09C-E8C0AACCB8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8105766-4722-A6A1-C210-52306578FA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3</a:t>
            </a:fld>
            <a:endParaRPr lang="en-US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922DC17-5014-C06B-E812-8B3215DA490D}"/>
              </a:ext>
            </a:extLst>
          </p:cNvPr>
          <p:cNvSpPr/>
          <p:nvPr/>
        </p:nvSpPr>
        <p:spPr>
          <a:xfrm>
            <a:off x="0" y="595631"/>
            <a:ext cx="9138021" cy="45719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9CF4D50-56D3-8DF8-088A-BA9BB9D10B83}"/>
              </a:ext>
            </a:extLst>
          </p:cNvPr>
          <p:cNvSpPr/>
          <p:nvPr/>
        </p:nvSpPr>
        <p:spPr>
          <a:xfrm>
            <a:off x="0" y="4802697"/>
            <a:ext cx="9138021" cy="45719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54B882A0-7B1F-CA6B-B515-AC1C13E3FE8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3647" y="37032"/>
            <a:ext cx="687682" cy="557879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0B835B29-CDB1-A05E-9092-DF879284FE47}"/>
              </a:ext>
            </a:extLst>
          </p:cNvPr>
          <p:cNvSpPr txBox="1"/>
          <p:nvPr/>
        </p:nvSpPr>
        <p:spPr>
          <a:xfrm>
            <a:off x="1362728" y="95029"/>
            <a:ext cx="70866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0" algn="ctr">
              <a:buNone/>
            </a:pPr>
            <a:r>
              <a:rPr lang="en-US" sz="2000" dirty="0">
                <a:latin typeface="Arial" pitchFamily="34" charset="0"/>
                <a:cs typeface="Arial" pitchFamily="34" charset="0"/>
              </a:rPr>
              <a:t>Cognitive &amp; Human Performance Frameworks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0E509275-6BFB-1E9D-5AAA-195CDA2F767A}"/>
                  </a:ext>
                </a:extLst>
              </p:cNvPr>
              <p:cNvSpPr txBox="1"/>
              <p:nvPr/>
            </p:nvSpPr>
            <p:spPr>
              <a:xfrm>
                <a:off x="457200" y="810687"/>
                <a:ext cx="8534399" cy="35584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just">
                  <a:buNone/>
                </a:pPr>
                <a:r>
                  <a:rPr lang="en-US" sz="1600" b="1" dirty="0">
                    <a:effectLst/>
                    <a:latin typeface="Google Sans"/>
                  </a:rPr>
                  <a:t>A. Model Human Processor (MHP)</a:t>
                </a:r>
              </a:p>
              <a:p>
                <a:pPr algn="just">
                  <a:buFont typeface="Arial" panose="020B0604020202020204" pitchFamily="34" charset="0"/>
                  <a:buChar char="•"/>
                </a:pPr>
                <a:r>
                  <a:rPr lang="en-US" sz="1600" b="1" dirty="0">
                    <a:effectLst/>
                    <a:latin typeface="Google Sans Text"/>
                  </a:rPr>
                  <a:t>Architecture:</a:t>
                </a:r>
                <a:r>
                  <a:rPr lang="en-US" sz="1600" dirty="0">
                    <a:effectLst/>
                    <a:latin typeface="Google Sans Text"/>
                  </a:rPr>
                  <a:t> Divides the human system into three subsystems:</a:t>
                </a:r>
              </a:p>
              <a:p>
                <a:pPr marL="742950" lvl="1" indent="-285750" algn="just">
                  <a:buFont typeface="Arial" panose="020B0604020202020204" pitchFamily="34" charset="0"/>
                  <a:buChar char="•"/>
                </a:pPr>
                <a:r>
                  <a:rPr lang="en-US" sz="1600" b="1" dirty="0">
                    <a:effectLst/>
                    <a:latin typeface="Google Sans Text"/>
                  </a:rPr>
                  <a:t>Perceptual Subsystem:</a:t>
                </a:r>
                <a:r>
                  <a:rPr lang="en-US" sz="1600" dirty="0">
                    <a:effectLst/>
                    <a:latin typeface="Google Sans Text"/>
                  </a:rPr>
                  <a:t> Captures external physical stimuli (visual/auditory) and caches them in sensory buffers.</a:t>
                </a:r>
              </a:p>
              <a:p>
                <a:pPr marL="742950" lvl="1" indent="-285750" algn="just">
                  <a:buFont typeface="Arial" panose="020B0604020202020204" pitchFamily="34" charset="0"/>
                  <a:buChar char="•"/>
                </a:pPr>
                <a:r>
                  <a:rPr lang="en-US" sz="1600" b="1" dirty="0">
                    <a:effectLst/>
                    <a:latin typeface="Google Sans Text"/>
                  </a:rPr>
                  <a:t>Cognitive Subsystem:</a:t>
                </a:r>
                <a:r>
                  <a:rPr lang="en-US" sz="1600" dirty="0">
                    <a:effectLst/>
                    <a:latin typeface="Google Sans Text"/>
                  </a:rPr>
                  <a:t> Retrieves data from sensory buffers, matches it with Long-Term Memory (LTM), and forms an action plan inside Working Memory (WM).</a:t>
                </a:r>
              </a:p>
              <a:p>
                <a:pPr marL="742950" lvl="1" indent="-285750" algn="just">
                  <a:buFont typeface="Arial" panose="020B0604020202020204" pitchFamily="34" charset="0"/>
                  <a:buChar char="•"/>
                </a:pPr>
                <a:r>
                  <a:rPr lang="en-US" sz="1600" b="1" dirty="0">
                    <a:effectLst/>
                    <a:latin typeface="Google Sans Text"/>
                  </a:rPr>
                  <a:t>Motor Subsystem:</a:t>
                </a:r>
                <a:r>
                  <a:rPr lang="en-US" sz="1600" dirty="0">
                    <a:effectLst/>
                    <a:latin typeface="Google Sans Text"/>
                  </a:rPr>
                  <a:t> Translates the action plan into physical muscle contractions (e.g., finger tap).</a:t>
                </a:r>
              </a:p>
              <a:p>
                <a:pPr algn="just">
                  <a:buFont typeface="Arial" panose="020B0604020202020204" pitchFamily="34" charset="0"/>
                  <a:buChar char="•"/>
                </a:pPr>
                <a:r>
                  <a:rPr lang="en-US" sz="1600" b="1" dirty="0">
                    <a:effectLst/>
                    <a:latin typeface="Google Sans Text"/>
                  </a:rPr>
                  <a:t>System Constants:</a:t>
                </a:r>
                <a:r>
                  <a:rPr lang="en-US" sz="1600" dirty="0">
                    <a:effectLst/>
                    <a:latin typeface="Google Sans Text"/>
                  </a:rPr>
                  <a:t> Each processor has a cycle time (</a:t>
                </a:r>
                <a14:m>
                  <m:oMath xmlns:m="http://schemas.openxmlformats.org/officeDocument/2006/math">
                    <m:r>
                      <a:rPr lang="en-US" sz="1600" i="1" smtClean="0">
                        <a:latin typeface="Cambria Math" panose="02040503050406030204" pitchFamily="18" charset="0"/>
                      </a:rPr>
                      <m:t>𝜏</m:t>
                    </m:r>
                  </m:oMath>
                </a14:m>
                <a:r>
                  <a:rPr lang="en-US" sz="1600" dirty="0">
                    <a:effectLst/>
                    <a:latin typeface="Google Sans Text"/>
                  </a:rPr>
                  <a:t>).</a:t>
                </a:r>
              </a:p>
              <a:p>
                <a:pPr marL="742950" lvl="1" indent="-285750" algn="just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𝜏</m:t>
                        </m:r>
                      </m:e>
                      <m:sub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𝑝</m:t>
                        </m:r>
                      </m:sub>
                    </m:sSub>
                    <m:r>
                      <a:rPr lang="en-US" sz="1600" i="0">
                        <a:latin typeface="Cambria Math" panose="02040503050406030204" pitchFamily="18" charset="0"/>
                      </a:rPr>
                      <m:t>≈100</m:t>
                    </m:r>
                    <m:r>
                      <m:rPr>
                        <m:nor/>
                      </m:rPr>
                      <a:rPr lang="en-US" sz="1600" i="0">
                        <a:latin typeface="Cambria Math" panose="02040503050406030204" pitchFamily="18" charset="0"/>
                      </a:rPr>
                      <m:t> ms</m:t>
                    </m:r>
                  </m:oMath>
                </a14:m>
                <a:r>
                  <a:rPr lang="en-US" sz="1600" dirty="0">
                    <a:effectLst/>
                    <a:latin typeface="Google Sans Text"/>
                  </a:rPr>
                  <a:t>(Perceptual)</a:t>
                </a:r>
              </a:p>
              <a:p>
                <a:pPr marL="742950" lvl="1" indent="-285750" algn="just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𝜏</m:t>
                        </m:r>
                      </m:e>
                      <m:sub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𝑐</m:t>
                        </m:r>
                      </m:sub>
                    </m:sSub>
                    <m:r>
                      <a:rPr lang="en-US" sz="1600" i="0">
                        <a:latin typeface="Cambria Math" panose="02040503050406030204" pitchFamily="18" charset="0"/>
                      </a:rPr>
                      <m:t>≈70</m:t>
                    </m:r>
                    <m:r>
                      <m:rPr>
                        <m:nor/>
                      </m:rPr>
                      <a:rPr lang="en-US" sz="1600" i="0">
                        <a:latin typeface="Cambria Math" panose="02040503050406030204" pitchFamily="18" charset="0"/>
                      </a:rPr>
                      <m:t> ms</m:t>
                    </m:r>
                  </m:oMath>
                </a14:m>
                <a:r>
                  <a:rPr lang="en-US" sz="1600" dirty="0">
                    <a:effectLst/>
                    <a:latin typeface="Google Sans Text"/>
                  </a:rPr>
                  <a:t>(Cognitive)</a:t>
                </a:r>
              </a:p>
              <a:p>
                <a:pPr marL="742950" lvl="1" indent="-285750" algn="just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𝜏</m:t>
                        </m:r>
                      </m:e>
                      <m:sub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𝑚</m:t>
                        </m:r>
                      </m:sub>
                    </m:sSub>
                    <m:r>
                      <a:rPr lang="en-US" sz="1600" i="0">
                        <a:latin typeface="Cambria Math" panose="02040503050406030204" pitchFamily="18" charset="0"/>
                      </a:rPr>
                      <m:t>≈70</m:t>
                    </m:r>
                    <m:r>
                      <m:rPr>
                        <m:nor/>
                      </m:rPr>
                      <a:rPr lang="en-US" sz="1600" i="0">
                        <a:latin typeface="Cambria Math" panose="02040503050406030204" pitchFamily="18" charset="0"/>
                      </a:rPr>
                      <m:t> ms</m:t>
                    </m:r>
                  </m:oMath>
                </a14:m>
                <a:r>
                  <a:rPr lang="en-US" sz="1600" dirty="0">
                    <a:effectLst/>
                    <a:latin typeface="Google Sans Text"/>
                  </a:rPr>
                  <a:t>(Motor)</a:t>
                </a:r>
              </a:p>
              <a:p>
                <a:pPr algn="just">
                  <a:buFont typeface="Arial" panose="020B0604020202020204" pitchFamily="34" charset="0"/>
                  <a:buChar char="•"/>
                </a:pPr>
                <a:r>
                  <a:rPr lang="en-US" sz="1600" b="1" dirty="0">
                    <a:effectLst/>
                    <a:latin typeface="Google Sans Text"/>
                  </a:rPr>
                  <a:t>Engineering Application:</a:t>
                </a:r>
                <a:r>
                  <a:rPr lang="en-US" sz="1600" dirty="0">
                    <a:effectLst/>
                    <a:latin typeface="Google Sans Text"/>
                  </a:rPr>
                  <a:t> Calculating absolute human response boundaries. For example, designing automated vehicle warning interfaces where safety limits depend on human reaction delays.</a:t>
                </a:r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0E509275-6BFB-1E9D-5AAA-195CDA2F767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7200" y="810687"/>
                <a:ext cx="8534399" cy="3558410"/>
              </a:xfrm>
              <a:prstGeom prst="rect">
                <a:avLst/>
              </a:prstGeom>
              <a:blipFill>
                <a:blip r:embed="rId6"/>
                <a:stretch>
                  <a:fillRect l="-357" t="-514" r="-357" b="-119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TextBox 9">
            <a:extLst>
              <a:ext uri="{FF2B5EF4-FFF2-40B4-BE49-F238E27FC236}">
                <a16:creationId xmlns:a16="http://schemas.microsoft.com/office/drawing/2014/main" id="{F0D9E0D0-602F-85F5-EE65-5D23D0C5777B}"/>
              </a:ext>
            </a:extLst>
          </p:cNvPr>
          <p:cNvSpPr txBox="1"/>
          <p:nvPr/>
        </p:nvSpPr>
        <p:spPr>
          <a:xfrm>
            <a:off x="0" y="4863155"/>
            <a:ext cx="2209800" cy="261610"/>
          </a:xfrm>
          <a:prstGeom prst="rect">
            <a:avLst/>
          </a:prstGeom>
          <a:solidFill>
            <a:schemeClr val="accent1">
              <a:lumMod val="50000"/>
            </a:schemeClr>
          </a:solidFill>
          <a:scene3d>
            <a:camera prst="orthographicFront"/>
            <a:lightRig rig="threePt" dir="t"/>
          </a:scene3d>
          <a:sp3d>
            <a:bevelT/>
          </a:sp3d>
        </p:spPr>
        <p:txBody>
          <a:bodyPr wrap="square" rtlCol="0">
            <a:spAutoFit/>
          </a:bodyPr>
          <a:lstStyle/>
          <a:p>
            <a:pPr algn="ctr"/>
            <a:r>
              <a:rPr lang="en-US" sz="1100" b="1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06 / 07 Sep 2026</a:t>
            </a:r>
          </a:p>
        </p:txBody>
      </p:sp>
    </p:spTree>
    <p:extLst>
      <p:ext uri="{BB962C8B-B14F-4D97-AF65-F5344CB8AC3E}">
        <p14:creationId xmlns:p14="http://schemas.microsoft.com/office/powerpoint/2010/main" val="188163812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89E06A-B2EC-E927-5FD2-5E2489C407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8AE5EFB-338F-E81E-21E0-02AD26402A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4</a:t>
            </a:fld>
            <a:endParaRPr lang="en-US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5DC19EF-D664-1DD0-1131-1C975E6B3547}"/>
              </a:ext>
            </a:extLst>
          </p:cNvPr>
          <p:cNvSpPr/>
          <p:nvPr/>
        </p:nvSpPr>
        <p:spPr>
          <a:xfrm>
            <a:off x="0" y="595631"/>
            <a:ext cx="9138021" cy="45719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70429F9-6188-C8C0-AE83-1360E4259158}"/>
              </a:ext>
            </a:extLst>
          </p:cNvPr>
          <p:cNvSpPr/>
          <p:nvPr/>
        </p:nvSpPr>
        <p:spPr>
          <a:xfrm>
            <a:off x="0" y="4802697"/>
            <a:ext cx="9138021" cy="45719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7B22FDB8-605D-97F4-1CA9-A1D1740B896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3647" y="37032"/>
            <a:ext cx="687682" cy="557879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E278C266-51A5-4620-DEE1-5D80CD2A436F}"/>
              </a:ext>
            </a:extLst>
          </p:cNvPr>
          <p:cNvSpPr txBox="1"/>
          <p:nvPr/>
        </p:nvSpPr>
        <p:spPr>
          <a:xfrm>
            <a:off x="1362728" y="95029"/>
            <a:ext cx="70866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0" algn="ctr">
              <a:buNone/>
            </a:pPr>
            <a:r>
              <a:rPr lang="en-US" sz="2000" dirty="0">
                <a:latin typeface="Arial" pitchFamily="34" charset="0"/>
                <a:cs typeface="Arial" pitchFamily="34" charset="0"/>
              </a:rPr>
              <a:t>Cognitive &amp; Human Performance Frameworks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C42A36F-ACB9-18CB-13F5-F9768CBA3C2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971550"/>
            <a:ext cx="4427604" cy="2857748"/>
          </a:xfrm>
          <a:prstGeom prst="rect">
            <a:avLst/>
          </a:prstGeom>
        </p:spPr>
      </p:pic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F8347141-C634-94B1-7DE9-7C4535C17300}"/>
              </a:ext>
            </a:extLst>
          </p:cNvPr>
          <p:cNvCxnSpPr>
            <a:cxnSpLocks/>
          </p:cNvCxnSpPr>
          <p:nvPr/>
        </p:nvCxnSpPr>
        <p:spPr>
          <a:xfrm>
            <a:off x="4432242" y="895350"/>
            <a:ext cx="0" cy="3652519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3" name="Picture 12">
            <a:extLst>
              <a:ext uri="{FF2B5EF4-FFF2-40B4-BE49-F238E27FC236}">
                <a16:creationId xmlns:a16="http://schemas.microsoft.com/office/drawing/2014/main" id="{BE5B9303-6C26-A5B2-DCCE-8C1143B9C356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81600" y="656093"/>
            <a:ext cx="3668984" cy="2560482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24932295-8FB9-C9CE-648D-1AB257A5AC39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52838" y="3376956"/>
            <a:ext cx="4427601" cy="1278370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F46CCA32-55E5-5C54-E2D0-D8F6CAEA7810}"/>
              </a:ext>
            </a:extLst>
          </p:cNvPr>
          <p:cNvSpPr txBox="1"/>
          <p:nvPr/>
        </p:nvSpPr>
        <p:spPr>
          <a:xfrm>
            <a:off x="0" y="4863155"/>
            <a:ext cx="2209800" cy="261610"/>
          </a:xfrm>
          <a:prstGeom prst="rect">
            <a:avLst/>
          </a:prstGeom>
          <a:solidFill>
            <a:schemeClr val="accent1">
              <a:lumMod val="50000"/>
            </a:schemeClr>
          </a:solidFill>
          <a:scene3d>
            <a:camera prst="orthographicFront"/>
            <a:lightRig rig="threePt" dir="t"/>
          </a:scene3d>
          <a:sp3d>
            <a:bevelT/>
          </a:sp3d>
        </p:spPr>
        <p:txBody>
          <a:bodyPr wrap="square" rtlCol="0">
            <a:spAutoFit/>
          </a:bodyPr>
          <a:lstStyle/>
          <a:p>
            <a:pPr algn="ctr"/>
            <a:r>
              <a:rPr lang="en-US" sz="1100" b="1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06 / 07 Sep 2026</a:t>
            </a:r>
          </a:p>
        </p:txBody>
      </p:sp>
    </p:spTree>
    <p:extLst>
      <p:ext uri="{BB962C8B-B14F-4D97-AF65-F5344CB8AC3E}">
        <p14:creationId xmlns:p14="http://schemas.microsoft.com/office/powerpoint/2010/main" val="347119061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0543EE-4DD6-4180-8AD0-CE3ADAC340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77EED89-7F0A-8358-3F2B-6A9047B984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5</a:t>
            </a:fld>
            <a:endParaRPr lang="en-US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140283A-B015-44BC-E6EA-98F38BBC4885}"/>
              </a:ext>
            </a:extLst>
          </p:cNvPr>
          <p:cNvSpPr/>
          <p:nvPr/>
        </p:nvSpPr>
        <p:spPr>
          <a:xfrm>
            <a:off x="0" y="595631"/>
            <a:ext cx="9138021" cy="45719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C0A3090E-DD80-791B-DD67-6CFF11055EE0}"/>
              </a:ext>
            </a:extLst>
          </p:cNvPr>
          <p:cNvSpPr/>
          <p:nvPr/>
        </p:nvSpPr>
        <p:spPr>
          <a:xfrm>
            <a:off x="0" y="4802697"/>
            <a:ext cx="9138021" cy="45719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F921A774-8693-AAE6-FB61-954B0EC8650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3647" y="37032"/>
            <a:ext cx="687682" cy="557879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72FA7582-FFD2-9C9F-C4A2-9A7FCB67C9C3}"/>
              </a:ext>
            </a:extLst>
          </p:cNvPr>
          <p:cNvSpPr txBox="1"/>
          <p:nvPr/>
        </p:nvSpPr>
        <p:spPr>
          <a:xfrm>
            <a:off x="1362728" y="95029"/>
            <a:ext cx="70866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0" algn="ctr">
              <a:buNone/>
            </a:pPr>
            <a:r>
              <a:rPr lang="en-US" sz="2000" dirty="0">
                <a:latin typeface="Arial" pitchFamily="34" charset="0"/>
                <a:cs typeface="Arial" pitchFamily="34" charset="0"/>
              </a:rPr>
              <a:t>Cognitive &amp; Human Performance Frameworks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7EAC8EBD-17E9-042B-1FF1-C200692CD762}"/>
                  </a:ext>
                </a:extLst>
              </p:cNvPr>
              <p:cNvSpPr txBox="1"/>
              <p:nvPr/>
            </p:nvSpPr>
            <p:spPr>
              <a:xfrm>
                <a:off x="225610" y="867652"/>
                <a:ext cx="8686799" cy="34163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buNone/>
                </a:pPr>
                <a:r>
                  <a:rPr lang="en-US" sz="1600" b="1" dirty="0">
                    <a:effectLst/>
                    <a:latin typeface="Google Sans"/>
                  </a:rPr>
                  <a:t>B. GOMS &amp; Keystroke-Level Model (KLM)</a:t>
                </a:r>
              </a:p>
              <a:p>
                <a:pPr>
                  <a:buFont typeface="Arial" panose="020B0604020202020204" pitchFamily="34" charset="0"/>
                  <a:buChar char="•"/>
                </a:pPr>
                <a:r>
                  <a:rPr lang="en-US" sz="1600" b="1" dirty="0">
                    <a:effectLst/>
                    <a:latin typeface="Google Sans Text"/>
                  </a:rPr>
                  <a:t>Components:</a:t>
                </a:r>
                <a:r>
                  <a:rPr lang="en-US" sz="1600" dirty="0">
                    <a:effectLst/>
                    <a:latin typeface="Google Sans Text"/>
                  </a:rPr>
                  <a:t> </a:t>
                </a:r>
                <a:r>
                  <a:rPr lang="en-US" sz="1600" b="1" dirty="0">
                    <a:effectLst/>
                    <a:latin typeface="Google Sans Text"/>
                  </a:rPr>
                  <a:t>G</a:t>
                </a:r>
                <a:r>
                  <a:rPr lang="en-US" sz="1600" dirty="0">
                    <a:effectLst/>
                    <a:latin typeface="Google Sans Text"/>
                  </a:rPr>
                  <a:t>oals (what the user wants), </a:t>
                </a:r>
                <a:r>
                  <a:rPr lang="en-US" sz="1600" b="1" dirty="0">
                    <a:effectLst/>
                    <a:latin typeface="Google Sans Text"/>
                  </a:rPr>
                  <a:t>O</a:t>
                </a:r>
                <a:r>
                  <a:rPr lang="en-US" sz="1600" dirty="0">
                    <a:effectLst/>
                    <a:latin typeface="Google Sans Text"/>
                  </a:rPr>
                  <a:t>perators (atomic actions), </a:t>
                </a:r>
                <a:r>
                  <a:rPr lang="en-US" sz="1600" b="1" dirty="0">
                    <a:effectLst/>
                    <a:latin typeface="Google Sans Text"/>
                  </a:rPr>
                  <a:t>M</a:t>
                </a:r>
                <a:r>
                  <a:rPr lang="en-US" sz="1600" dirty="0">
                    <a:effectLst/>
                    <a:latin typeface="Google Sans Text"/>
                  </a:rPr>
                  <a:t>ethods (sequences of operators), </a:t>
                </a:r>
                <a:r>
                  <a:rPr lang="en-US" sz="1600" b="1" dirty="0">
                    <a:effectLst/>
                    <a:latin typeface="Google Sans Text"/>
                  </a:rPr>
                  <a:t>S</a:t>
                </a:r>
                <a:r>
                  <a:rPr lang="en-US" sz="1600" dirty="0">
                    <a:effectLst/>
                    <a:latin typeface="Google Sans Text"/>
                  </a:rPr>
                  <a:t>election rules (how to choose between methods).</a:t>
                </a:r>
              </a:p>
              <a:p>
                <a:pPr>
                  <a:buFont typeface="Arial" panose="020B0604020202020204" pitchFamily="34" charset="0"/>
                  <a:buChar char="•"/>
                </a:pPr>
                <a:r>
                  <a:rPr lang="en-US" sz="1600" b="1" dirty="0">
                    <a:effectLst/>
                    <a:latin typeface="Google Sans Text"/>
                  </a:rPr>
                  <a:t>KLM Syntax:</a:t>
                </a:r>
                <a:r>
                  <a:rPr lang="en-US" sz="1600" dirty="0">
                    <a:effectLst/>
                    <a:latin typeface="Google Sans Text"/>
                  </a:rPr>
                  <a:t> A simplified version of GOMS that uses fixed execution times for expert interaction:</a:t>
                </a:r>
              </a:p>
              <a:p>
                <a:pPr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m:rPr>
                            <m:nor/>
                          </m:rPr>
                          <a:rPr lang="en-US" sz="1600" i="0">
                            <a:latin typeface="Cambria Math" panose="02040503050406030204" pitchFamily="18" charset="0"/>
                          </a:rPr>
                          <m:t>execute</m:t>
                        </m:r>
                      </m:sub>
                    </m:sSub>
                    <m:r>
                      <a:rPr lang="en-US" sz="1600" i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𝐾</m:t>
                        </m:r>
                      </m:sub>
                    </m:sSub>
                    <m:r>
                      <a:rPr lang="en-US" sz="1600" i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𝑃</m:t>
                        </m:r>
                      </m:sub>
                    </m:sSub>
                    <m:r>
                      <a:rPr lang="en-US" sz="1600" i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𝐻</m:t>
                        </m:r>
                      </m:sub>
                    </m:sSub>
                    <m:r>
                      <a:rPr lang="en-US" sz="1600" i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𝑀</m:t>
                        </m:r>
                      </m:sub>
                    </m:sSub>
                    <m:r>
                      <a:rPr lang="en-US" sz="1600" i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𝐷</m:t>
                        </m:r>
                      </m:sub>
                    </m:sSub>
                    <m:r>
                      <a:rPr lang="en-US" sz="1600" i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𝑅</m:t>
                        </m:r>
                      </m:sub>
                    </m:sSub>
                  </m:oMath>
                </a14:m>
                <a:endParaRPr lang="en-US" sz="1600" dirty="0">
                  <a:effectLst/>
                  <a:latin typeface="Google Sans Text"/>
                </a:endParaRPr>
              </a:p>
              <a:p>
                <a:pPr marL="742950" lvl="1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US" sz="1600" i="1" smtClean="0">
                        <a:latin typeface="Cambria Math" panose="02040503050406030204" pitchFamily="18" charset="0"/>
                      </a:rPr>
                      <m:t>𝐾</m:t>
                    </m:r>
                  </m:oMath>
                </a14:m>
                <a:r>
                  <a:rPr lang="en-US" sz="1600" dirty="0">
                    <a:effectLst/>
                    <a:latin typeface="Google Sans Text"/>
                  </a:rPr>
                  <a:t>(Keystroke): </a:t>
                </a:r>
                <a14:m>
                  <m:oMath xmlns:m="http://schemas.openxmlformats.org/officeDocument/2006/math">
                    <m:r>
                      <a:rPr lang="en-US" sz="1600" smtClean="0">
                        <a:latin typeface="Cambria Math" panose="02040503050406030204" pitchFamily="18" charset="0"/>
                      </a:rPr>
                      <m:t>0.20</m:t>
                    </m:r>
                    <m:r>
                      <m:rPr>
                        <m:nor/>
                      </m:rPr>
                      <a:rPr lang="en-US" sz="1600" i="0">
                        <a:latin typeface="Cambria Math" panose="02040503050406030204" pitchFamily="18" charset="0"/>
                      </a:rPr>
                      <m:t>s</m:t>
                    </m:r>
                  </m:oMath>
                </a14:m>
                <a:endParaRPr lang="en-US" sz="1600" dirty="0">
                  <a:effectLst/>
                  <a:latin typeface="Google Sans Text"/>
                </a:endParaRPr>
              </a:p>
              <a:p>
                <a:pPr marL="742950" lvl="1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US" sz="1600" i="1" smtClean="0"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lang="en-US" sz="1600" dirty="0">
                    <a:effectLst/>
                    <a:latin typeface="Google Sans Text"/>
                  </a:rPr>
                  <a:t>(Point to target): </a:t>
                </a:r>
                <a14:m>
                  <m:oMath xmlns:m="http://schemas.openxmlformats.org/officeDocument/2006/math">
                    <m:r>
                      <a:rPr lang="en-US" sz="1600" smtClean="0">
                        <a:latin typeface="Cambria Math" panose="02040503050406030204" pitchFamily="18" charset="0"/>
                      </a:rPr>
                      <m:t>1.10</m:t>
                    </m:r>
                    <m:r>
                      <m:rPr>
                        <m:nor/>
                      </m:rPr>
                      <a:rPr lang="en-US" sz="1600" i="0">
                        <a:latin typeface="Cambria Math" panose="02040503050406030204" pitchFamily="18" charset="0"/>
                      </a:rPr>
                      <m:t>s</m:t>
                    </m:r>
                  </m:oMath>
                </a14:m>
                <a:endParaRPr lang="en-US" sz="1600" dirty="0">
                  <a:effectLst/>
                  <a:latin typeface="Google Sans Text"/>
                </a:endParaRPr>
              </a:p>
              <a:p>
                <a:pPr marL="742950" lvl="1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US" sz="1600" i="1" smtClean="0">
                        <a:latin typeface="Cambria Math" panose="02040503050406030204" pitchFamily="18" charset="0"/>
                      </a:rPr>
                      <m:t>𝐻</m:t>
                    </m:r>
                  </m:oMath>
                </a14:m>
                <a:r>
                  <a:rPr lang="en-US" sz="1600" dirty="0">
                    <a:effectLst/>
                    <a:latin typeface="Google Sans Text"/>
                  </a:rPr>
                  <a:t>(Home hands between mouse and keyboard): </a:t>
                </a:r>
                <a14:m>
                  <m:oMath xmlns:m="http://schemas.openxmlformats.org/officeDocument/2006/math">
                    <m:r>
                      <a:rPr lang="en-US" sz="1600" smtClean="0">
                        <a:latin typeface="Cambria Math" panose="02040503050406030204" pitchFamily="18" charset="0"/>
                      </a:rPr>
                      <m:t>0.40</m:t>
                    </m:r>
                    <m:r>
                      <m:rPr>
                        <m:nor/>
                      </m:rPr>
                      <a:rPr lang="en-US" sz="1600" i="0">
                        <a:latin typeface="Cambria Math" panose="02040503050406030204" pitchFamily="18" charset="0"/>
                      </a:rPr>
                      <m:t>s</m:t>
                    </m:r>
                  </m:oMath>
                </a14:m>
                <a:endParaRPr lang="en-US" sz="1600" dirty="0">
                  <a:effectLst/>
                  <a:latin typeface="Google Sans Text"/>
                </a:endParaRPr>
              </a:p>
              <a:p>
                <a:pPr marL="742950" lvl="1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US" sz="1600" i="1" smtClean="0">
                        <a:latin typeface="Cambria Math" panose="02040503050406030204" pitchFamily="18" charset="0"/>
                      </a:rPr>
                      <m:t>𝑀</m:t>
                    </m:r>
                  </m:oMath>
                </a14:m>
                <a:r>
                  <a:rPr lang="en-US" sz="1600" dirty="0">
                    <a:effectLst/>
                    <a:latin typeface="Google Sans Text"/>
                  </a:rPr>
                  <a:t>(Mental preparation pause): </a:t>
                </a:r>
                <a14:m>
                  <m:oMath xmlns:m="http://schemas.openxmlformats.org/officeDocument/2006/math">
                    <m:r>
                      <a:rPr lang="en-US" sz="1600" smtClean="0">
                        <a:latin typeface="Cambria Math" panose="02040503050406030204" pitchFamily="18" charset="0"/>
                      </a:rPr>
                      <m:t>1.35</m:t>
                    </m:r>
                    <m:r>
                      <m:rPr>
                        <m:nor/>
                      </m:rPr>
                      <a:rPr lang="en-US" sz="1600" i="0">
                        <a:latin typeface="Cambria Math" panose="02040503050406030204" pitchFamily="18" charset="0"/>
                      </a:rPr>
                      <m:t>s</m:t>
                    </m:r>
                  </m:oMath>
                </a14:m>
                <a:endParaRPr lang="en-US" sz="1600" dirty="0">
                  <a:effectLst/>
                  <a:latin typeface="Google Sans Text"/>
                </a:endParaRPr>
              </a:p>
              <a:p>
                <a:pPr marL="742950" lvl="1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US" sz="1600" i="1" smtClean="0">
                        <a:latin typeface="Cambria Math" panose="02040503050406030204" pitchFamily="18" charset="0"/>
                      </a:rPr>
                      <m:t>𝑅</m:t>
                    </m:r>
                  </m:oMath>
                </a14:m>
                <a:r>
                  <a:rPr lang="en-US" sz="1600" dirty="0">
                    <a:effectLst/>
                    <a:latin typeface="Google Sans Text"/>
                  </a:rPr>
                  <a:t>(System response time delay): Variable</a:t>
                </a:r>
              </a:p>
              <a:p>
                <a:pPr>
                  <a:buFont typeface="Arial" panose="020B0604020202020204" pitchFamily="34" charset="0"/>
                  <a:buChar char="•"/>
                </a:pPr>
                <a:r>
                  <a:rPr lang="en-US" sz="1600" b="1" dirty="0">
                    <a:effectLst/>
                    <a:latin typeface="Google Sans Text"/>
                  </a:rPr>
                  <a:t>Engineering Application:</a:t>
                </a:r>
                <a:r>
                  <a:rPr lang="en-US" sz="1600" dirty="0">
                    <a:effectLst/>
                    <a:latin typeface="Google Sans Text"/>
                  </a:rPr>
                  <a:t> A/B testing two distinct interface flows (e.g., Command Line vs. GUI) at the wireframe stage to mathematically determine which design maximizes throughput for expert operators.</a:t>
                </a: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7EAC8EBD-17E9-042B-1FF1-C200692CD76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5610" y="867652"/>
                <a:ext cx="8686799" cy="3416320"/>
              </a:xfrm>
              <a:prstGeom prst="rect">
                <a:avLst/>
              </a:prstGeom>
              <a:blipFill>
                <a:blip r:embed="rId6"/>
                <a:stretch>
                  <a:fillRect l="-351" t="-53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TextBox 10">
            <a:extLst>
              <a:ext uri="{FF2B5EF4-FFF2-40B4-BE49-F238E27FC236}">
                <a16:creationId xmlns:a16="http://schemas.microsoft.com/office/drawing/2014/main" id="{FA1BB404-F803-9ED8-CCCF-E916A4BC18D2}"/>
              </a:ext>
            </a:extLst>
          </p:cNvPr>
          <p:cNvSpPr txBox="1"/>
          <p:nvPr/>
        </p:nvSpPr>
        <p:spPr>
          <a:xfrm>
            <a:off x="0" y="4863155"/>
            <a:ext cx="2209800" cy="261610"/>
          </a:xfrm>
          <a:prstGeom prst="rect">
            <a:avLst/>
          </a:prstGeom>
          <a:solidFill>
            <a:schemeClr val="accent1">
              <a:lumMod val="50000"/>
            </a:schemeClr>
          </a:solidFill>
          <a:scene3d>
            <a:camera prst="orthographicFront"/>
            <a:lightRig rig="threePt" dir="t"/>
          </a:scene3d>
          <a:sp3d>
            <a:bevelT/>
          </a:sp3d>
        </p:spPr>
        <p:txBody>
          <a:bodyPr wrap="square" rtlCol="0">
            <a:spAutoFit/>
          </a:bodyPr>
          <a:lstStyle/>
          <a:p>
            <a:pPr algn="ctr"/>
            <a:r>
              <a:rPr lang="en-US" sz="1100" b="1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06 / 07 Sep 2026</a:t>
            </a:r>
          </a:p>
        </p:txBody>
      </p:sp>
    </p:spTree>
    <p:extLst>
      <p:ext uri="{BB962C8B-B14F-4D97-AF65-F5344CB8AC3E}">
        <p14:creationId xmlns:p14="http://schemas.microsoft.com/office/powerpoint/2010/main" val="197513228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2C018C-D9B3-DD42-DA5E-07FDEEFD44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1474A97-E232-3ED2-CDBD-4DA97C6912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6</a:t>
            </a:fld>
            <a:endParaRPr lang="en-US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F96494E-6DBB-167E-2338-50A13FA69871}"/>
              </a:ext>
            </a:extLst>
          </p:cNvPr>
          <p:cNvSpPr/>
          <p:nvPr/>
        </p:nvSpPr>
        <p:spPr>
          <a:xfrm>
            <a:off x="0" y="595631"/>
            <a:ext cx="9138021" cy="45719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5C089DD4-D53E-7231-9239-B4E08FC19032}"/>
              </a:ext>
            </a:extLst>
          </p:cNvPr>
          <p:cNvSpPr/>
          <p:nvPr/>
        </p:nvSpPr>
        <p:spPr>
          <a:xfrm>
            <a:off x="0" y="4802697"/>
            <a:ext cx="9138021" cy="45719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A01A0DF9-9E55-2AAA-1BBC-E5DACCDC5E1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3647" y="37032"/>
            <a:ext cx="687682" cy="557879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21F517BA-491E-CEC4-EE49-606D0A9B45A6}"/>
              </a:ext>
            </a:extLst>
          </p:cNvPr>
          <p:cNvSpPr txBox="1"/>
          <p:nvPr/>
        </p:nvSpPr>
        <p:spPr>
          <a:xfrm>
            <a:off x="1362728" y="95029"/>
            <a:ext cx="70866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0" algn="ctr">
              <a:buNone/>
            </a:pPr>
            <a:r>
              <a:rPr lang="en-US" sz="2000" dirty="0">
                <a:latin typeface="Arial" pitchFamily="34" charset="0"/>
                <a:cs typeface="Arial" pitchFamily="34" charset="0"/>
              </a:rPr>
              <a:t>Cognitive &amp; Human Performance Frameworks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974BF58E-3D5E-E649-A83F-C54CA494E62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401" y="761362"/>
            <a:ext cx="3276600" cy="3848643"/>
          </a:xfrm>
          <a:prstGeom prst="rect">
            <a:avLst/>
          </a:prstGeom>
        </p:spPr>
      </p:pic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FE2772EF-5725-5A1F-7AC4-81112298D31F}"/>
              </a:ext>
            </a:extLst>
          </p:cNvPr>
          <p:cNvCxnSpPr/>
          <p:nvPr/>
        </p:nvCxnSpPr>
        <p:spPr>
          <a:xfrm>
            <a:off x="3581400" y="761362"/>
            <a:ext cx="0" cy="3848643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3" name="Picture 12">
            <a:extLst>
              <a:ext uri="{FF2B5EF4-FFF2-40B4-BE49-F238E27FC236}">
                <a16:creationId xmlns:a16="http://schemas.microsoft.com/office/drawing/2014/main" id="{A6CF1199-1773-8DC5-8599-CE4888FE9CA6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33800" y="687831"/>
            <a:ext cx="1082134" cy="3489973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9BC59F99-0613-A409-17AB-09370F0B2D5A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72678" y="1521722"/>
            <a:ext cx="2999723" cy="3382463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3AE6B617-70B1-421F-649A-E7D5E770C22D}"/>
              </a:ext>
            </a:extLst>
          </p:cNvPr>
          <p:cNvSpPr txBox="1"/>
          <p:nvPr/>
        </p:nvSpPr>
        <p:spPr>
          <a:xfrm>
            <a:off x="0" y="4863155"/>
            <a:ext cx="2209800" cy="261610"/>
          </a:xfrm>
          <a:prstGeom prst="rect">
            <a:avLst/>
          </a:prstGeom>
          <a:solidFill>
            <a:schemeClr val="accent1">
              <a:lumMod val="50000"/>
            </a:schemeClr>
          </a:solidFill>
          <a:scene3d>
            <a:camera prst="orthographicFront"/>
            <a:lightRig rig="threePt" dir="t"/>
          </a:scene3d>
          <a:sp3d>
            <a:bevelT/>
          </a:sp3d>
        </p:spPr>
        <p:txBody>
          <a:bodyPr wrap="square" rtlCol="0">
            <a:spAutoFit/>
          </a:bodyPr>
          <a:lstStyle/>
          <a:p>
            <a:pPr algn="ctr"/>
            <a:r>
              <a:rPr lang="en-US" sz="1100" b="1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06 / 07 Sep 2026</a:t>
            </a:r>
          </a:p>
        </p:txBody>
      </p:sp>
    </p:spTree>
    <p:extLst>
      <p:ext uri="{BB962C8B-B14F-4D97-AF65-F5344CB8AC3E}">
        <p14:creationId xmlns:p14="http://schemas.microsoft.com/office/powerpoint/2010/main" val="5384677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D2D9C1-3105-A667-4802-1800DCE529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5A960F6-1C23-5EB8-35C4-8BF9775915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7</a:t>
            </a:fld>
            <a:endParaRPr lang="en-US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3DCD018-C5DE-1C59-F9A5-7DC5190B5E47}"/>
              </a:ext>
            </a:extLst>
          </p:cNvPr>
          <p:cNvSpPr/>
          <p:nvPr/>
        </p:nvSpPr>
        <p:spPr>
          <a:xfrm>
            <a:off x="0" y="595631"/>
            <a:ext cx="9138021" cy="45719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5EF5C62-AA6E-D8DA-A599-3A2DAA2A0183}"/>
              </a:ext>
            </a:extLst>
          </p:cNvPr>
          <p:cNvSpPr/>
          <p:nvPr/>
        </p:nvSpPr>
        <p:spPr>
          <a:xfrm>
            <a:off x="0" y="4802697"/>
            <a:ext cx="9138021" cy="45719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CA167CEF-5E93-B6D4-F253-5A9A889C740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3647" y="37032"/>
            <a:ext cx="687682" cy="557879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A917440B-3A22-8807-7785-769A1012BEFA}"/>
              </a:ext>
            </a:extLst>
          </p:cNvPr>
          <p:cNvSpPr txBox="1"/>
          <p:nvPr/>
        </p:nvSpPr>
        <p:spPr>
          <a:xfrm>
            <a:off x="1362728" y="95029"/>
            <a:ext cx="70866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0" algn="ctr">
              <a:buNone/>
            </a:pPr>
            <a:r>
              <a:rPr lang="en-US" sz="2000" dirty="0">
                <a:latin typeface="Arial" pitchFamily="34" charset="0"/>
                <a:cs typeface="Arial" pitchFamily="34" charset="0"/>
              </a:rPr>
              <a:t>Cognitive &amp; Human Performance Frameworks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7056F986-2081-D6F2-52E8-D50FC581F503}"/>
                  </a:ext>
                </a:extLst>
              </p:cNvPr>
              <p:cNvSpPr txBox="1"/>
              <p:nvPr/>
            </p:nvSpPr>
            <p:spPr>
              <a:xfrm>
                <a:off x="149410" y="579656"/>
                <a:ext cx="8839199" cy="375487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just">
                  <a:buNone/>
                </a:pPr>
                <a:r>
                  <a:rPr lang="en-US" sz="1400" b="1" dirty="0">
                    <a:effectLst/>
                    <a:latin typeface="Google Sans"/>
                  </a:rPr>
                  <a:t>C. Hick’s Law: </a:t>
                </a:r>
              </a:p>
              <a:p>
                <a:pPr algn="just">
                  <a:buNone/>
                </a:pPr>
                <a:r>
                  <a:rPr lang="en-US" sz="1400" b="1" dirty="0">
                    <a:latin typeface="Google Sans"/>
                  </a:rPr>
                  <a:t>	</a:t>
                </a:r>
                <a:r>
                  <a:rPr lang="en-US" sz="1400" dirty="0">
                    <a:effectLst/>
                    <a:latin typeface="Google Sans"/>
                  </a:rPr>
                  <a:t>The time it takes for a person to make a decision increases logarithmically with the number and complexity of choices available.</a:t>
                </a:r>
              </a:p>
              <a:p>
                <a:pPr algn="just">
                  <a:buNone/>
                </a:pPr>
                <a:endParaRPr lang="en-US" sz="1400" dirty="0">
                  <a:effectLst/>
                  <a:latin typeface="Google Sans"/>
                </a:endParaRPr>
              </a:p>
              <a:p>
                <a:pPr algn="just">
                  <a:buFont typeface="Arial" panose="020B0604020202020204" pitchFamily="34" charset="0"/>
                  <a:buChar char="•"/>
                </a:pPr>
                <a:r>
                  <a:rPr lang="en-US" sz="1400" b="1" dirty="0">
                    <a:effectLst/>
                    <a:latin typeface="Google Sans Text"/>
                  </a:rPr>
                  <a:t>Mathematical Formula:</a:t>
                </a:r>
                <a:endParaRPr lang="en-US" sz="1400" dirty="0">
                  <a:effectLst/>
                  <a:latin typeface="Google Sans Text"/>
                </a:endParaRPr>
              </a:p>
              <a:p>
                <a:pPr algn="just"/>
                <a14:m>
                  <m:oMathPara xmlns:m="http://schemas.openxmlformats.org/officeDocument/2006/math">
                    <m:oMath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𝑅</m:t>
                      </m:r>
                      <m:r>
                        <a:rPr lang="en-US" sz="1400" i="1" smtClean="0">
                          <a:latin typeface="Cambria Math" panose="02040503050406030204" pitchFamily="18" charset="0"/>
                        </a:rPr>
                        <m:t>𝑇</m:t>
                      </m:r>
                      <m:r>
                        <a:rPr lang="en-US" sz="140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1400" i="1" smtClean="0">
                          <a:latin typeface="Cambria Math" panose="02040503050406030204" pitchFamily="18" charset="0"/>
                        </a:rPr>
                        <m:t>𝑎</m:t>
                      </m:r>
                      <m:r>
                        <a:rPr lang="en-US" sz="140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sz="1400" i="1" smtClean="0">
                          <a:latin typeface="Cambria Math" panose="02040503050406030204" pitchFamily="18" charset="0"/>
                        </a:rPr>
                        <m:t>𝑏</m:t>
                      </m:r>
                      <m:func>
                        <m:funcPr>
                          <m:ctrlPr>
                            <a:rPr lang="en-US" sz="140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sSub>
                            <m:sSubPr>
                              <m:ctrlPr>
                                <a:rPr lang="en-US" sz="140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sz="1400" i="1" smtClean="0">
                                  <a:latin typeface="Cambria Math" panose="02040503050406030204" pitchFamily="18" charset="0"/>
                                </a:rPr>
                                <m:t>log</m:t>
                              </m:r>
                            </m:e>
                            <m:sub>
                              <m:r>
                                <a:rPr lang="en-US" sz="140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fName>
                        <m:e>
                          <m:d>
                            <m:dPr>
                              <m:ctrlPr>
                                <a:rPr lang="en-US" sz="140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1400" i="1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e>
                          </m:d>
                        </m:e>
                      </m:func>
                    </m:oMath>
                  </m:oMathPara>
                </a14:m>
                <a:endParaRPr lang="en-US" sz="1400" dirty="0">
                  <a:effectLst/>
                  <a:latin typeface="Google Sans Text"/>
                </a:endParaRPr>
              </a:p>
              <a:p>
                <a:pPr algn="just"/>
                <a:r>
                  <a:rPr lang="en-US" sz="1400" dirty="0">
                    <a:effectLst/>
                    <a:latin typeface="Google Sans Text"/>
                  </a:rPr>
                  <a:t>	</a:t>
                </a:r>
                <a:r>
                  <a:rPr lang="en-US" sz="1400" dirty="0">
                    <a:latin typeface="Google Sans Text"/>
                  </a:rPr>
                  <a:t>RT represents the reaction or decision time. a is the total time independent of the choices (the basic reaction time). b is a constant derived from processing a single bit of information. n is the total number of equally likely choices.</a:t>
                </a:r>
                <a:endParaRPr lang="en-US" sz="1400" dirty="0">
                  <a:effectLst/>
                  <a:latin typeface="Google Sans Text"/>
                </a:endParaRPr>
              </a:p>
              <a:p>
                <a:pPr algn="just">
                  <a:buFont typeface="Arial" panose="020B0604020202020204" pitchFamily="34" charset="0"/>
                  <a:buChar char="•"/>
                </a:pPr>
                <a:endParaRPr lang="en-US" sz="1400" b="1" dirty="0">
                  <a:effectLst/>
                  <a:latin typeface="Google Sans Text"/>
                </a:endParaRPr>
              </a:p>
              <a:p>
                <a:pPr algn="just">
                  <a:buFont typeface="Arial" panose="020B0604020202020204" pitchFamily="34" charset="0"/>
                  <a:buChar char="•"/>
                </a:pPr>
                <a:r>
                  <a:rPr lang="en-US" sz="1400" b="1" dirty="0">
                    <a:effectLst/>
                    <a:latin typeface="Google Sans Text"/>
                  </a:rPr>
                  <a:t>Constraint:</a:t>
                </a:r>
                <a:r>
                  <a:rPr lang="en-US" sz="1400" dirty="0">
                    <a:effectLst/>
                    <a:latin typeface="Google Sans Text"/>
                  </a:rPr>
                  <a:t> </a:t>
                </a:r>
              </a:p>
              <a:p>
                <a:pPr algn="just"/>
                <a:r>
                  <a:rPr lang="en-US" sz="1400" dirty="0">
                    <a:latin typeface="Google Sans Text"/>
                  </a:rPr>
                  <a:t>	</a:t>
                </a:r>
                <a:r>
                  <a:rPr lang="en-US" sz="1400" dirty="0">
                    <a:effectLst/>
                    <a:latin typeface="Google Sans Text"/>
                  </a:rPr>
                  <a:t>The law only holds true if the choices are organized logically (e.g., alphabetically or categorically) allowing the human brain to execute a rapid binary search. If disorganized, selection time scales linearly (</a:t>
                </a:r>
                <a14:m>
                  <m:oMath xmlns:m="http://schemas.openxmlformats.org/officeDocument/2006/math">
                    <m:r>
                      <a:rPr lang="en-US" sz="1400" i="1" smtClean="0">
                        <a:latin typeface="Cambria Math" panose="02040503050406030204" pitchFamily="18" charset="0"/>
                      </a:rPr>
                      <m:t>𝑇</m:t>
                    </m:r>
                    <m:r>
                      <a:rPr lang="en-US" sz="1400" i="0">
                        <a:latin typeface="Cambria Math" panose="02040503050406030204" pitchFamily="18" charset="0"/>
                      </a:rPr>
                      <m:t>∝</m:t>
                    </m:r>
                    <m:r>
                      <a:rPr lang="en-US" sz="1400" i="1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sz="1400" dirty="0">
                    <a:effectLst/>
                    <a:latin typeface="Google Sans Text"/>
                  </a:rPr>
                  <a:t>).</a:t>
                </a:r>
              </a:p>
              <a:p>
                <a:pPr algn="just">
                  <a:buFont typeface="Arial" panose="020B0604020202020204" pitchFamily="34" charset="0"/>
                  <a:buChar char="•"/>
                </a:pPr>
                <a:endParaRPr lang="en-US" sz="1400" b="1" dirty="0">
                  <a:effectLst/>
                  <a:latin typeface="Google Sans Text"/>
                </a:endParaRPr>
              </a:p>
              <a:p>
                <a:pPr algn="just">
                  <a:buFont typeface="Arial" panose="020B0604020202020204" pitchFamily="34" charset="0"/>
                  <a:buChar char="•"/>
                </a:pPr>
                <a:r>
                  <a:rPr lang="en-US" sz="1400" b="1" dirty="0">
                    <a:effectLst/>
                    <a:latin typeface="Google Sans Text"/>
                  </a:rPr>
                  <a:t>Engineering Application:</a:t>
                </a:r>
                <a:r>
                  <a:rPr lang="en-US" sz="1400" dirty="0">
                    <a:effectLst/>
                    <a:latin typeface="Google Sans Text"/>
                  </a:rPr>
                  <a:t> </a:t>
                </a:r>
              </a:p>
              <a:p>
                <a:pPr algn="just"/>
                <a:r>
                  <a:rPr lang="en-US" sz="1400" dirty="0">
                    <a:latin typeface="Google Sans Text"/>
                  </a:rPr>
                  <a:t>	</a:t>
                </a:r>
                <a:r>
                  <a:rPr lang="en-US" sz="1400" dirty="0">
                    <a:effectLst/>
                    <a:latin typeface="Google Sans Text"/>
                  </a:rPr>
                  <a:t>Menu system architectures, information architecture layouts, and designing critical decision dashboards (e.g., air traffic control displays) where choice density directly 	delays system response times.</a:t>
                </a:r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7056F986-2081-D6F2-52E8-D50FC581F50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9410" y="579656"/>
                <a:ext cx="8839199" cy="3754874"/>
              </a:xfrm>
              <a:prstGeom prst="rect">
                <a:avLst/>
              </a:prstGeom>
              <a:blipFill>
                <a:blip r:embed="rId4"/>
                <a:stretch>
                  <a:fillRect l="-207" t="-325" r="-207" b="-81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TextBox 10">
            <a:extLst>
              <a:ext uri="{FF2B5EF4-FFF2-40B4-BE49-F238E27FC236}">
                <a16:creationId xmlns:a16="http://schemas.microsoft.com/office/drawing/2014/main" id="{3453AC7B-88CA-B8EE-F4BC-331C53AA0884}"/>
              </a:ext>
            </a:extLst>
          </p:cNvPr>
          <p:cNvSpPr txBox="1"/>
          <p:nvPr/>
        </p:nvSpPr>
        <p:spPr>
          <a:xfrm>
            <a:off x="0" y="4863155"/>
            <a:ext cx="2209800" cy="261610"/>
          </a:xfrm>
          <a:prstGeom prst="rect">
            <a:avLst/>
          </a:prstGeom>
          <a:solidFill>
            <a:schemeClr val="accent1">
              <a:lumMod val="50000"/>
            </a:schemeClr>
          </a:solidFill>
          <a:scene3d>
            <a:camera prst="orthographicFront"/>
            <a:lightRig rig="threePt" dir="t"/>
          </a:scene3d>
          <a:sp3d>
            <a:bevelT/>
          </a:sp3d>
        </p:spPr>
        <p:txBody>
          <a:bodyPr wrap="square" rtlCol="0">
            <a:spAutoFit/>
          </a:bodyPr>
          <a:lstStyle/>
          <a:p>
            <a:pPr algn="ctr"/>
            <a:r>
              <a:rPr lang="en-US" sz="1100" b="1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06 / 07 Sep 2026</a:t>
            </a:r>
          </a:p>
        </p:txBody>
      </p:sp>
    </p:spTree>
    <p:extLst>
      <p:ext uri="{BB962C8B-B14F-4D97-AF65-F5344CB8AC3E}">
        <p14:creationId xmlns:p14="http://schemas.microsoft.com/office/powerpoint/2010/main" val="307555902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8071A1-257F-A287-5531-A81FFD95CB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2B0B7D6-9A30-38E4-453E-75B0556973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8</a:t>
            </a:fld>
            <a:endParaRPr lang="en-US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8651984-ED20-A037-4DBF-E6313976DF3E}"/>
              </a:ext>
            </a:extLst>
          </p:cNvPr>
          <p:cNvSpPr/>
          <p:nvPr/>
        </p:nvSpPr>
        <p:spPr>
          <a:xfrm>
            <a:off x="0" y="595631"/>
            <a:ext cx="9138021" cy="45719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8F916B4F-CE3F-912E-4918-465A8ED96407}"/>
              </a:ext>
            </a:extLst>
          </p:cNvPr>
          <p:cNvSpPr/>
          <p:nvPr/>
        </p:nvSpPr>
        <p:spPr>
          <a:xfrm>
            <a:off x="0" y="4802697"/>
            <a:ext cx="9138021" cy="45719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A6437600-62CC-C3FA-D568-1856A297AC4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3647" y="37032"/>
            <a:ext cx="687682" cy="557879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2FCCA23F-46D6-F162-5E4E-B454B807B8EF}"/>
              </a:ext>
            </a:extLst>
          </p:cNvPr>
          <p:cNvSpPr txBox="1"/>
          <p:nvPr/>
        </p:nvSpPr>
        <p:spPr>
          <a:xfrm>
            <a:off x="1362728" y="95029"/>
            <a:ext cx="70866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0" algn="ctr">
              <a:buNone/>
            </a:pPr>
            <a:r>
              <a:rPr lang="en-US" sz="2000" dirty="0">
                <a:latin typeface="Arial" pitchFamily="34" charset="0"/>
                <a:cs typeface="Arial" pitchFamily="34" charset="0"/>
              </a:rPr>
              <a:t>Cognitive &amp; Human Performance Frameworks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5C15FA7-82D4-B3EC-0C99-CD1222DD533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400" y="681654"/>
            <a:ext cx="3415748" cy="1234547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1EB24BA8-FFD3-E88E-0D90-2C9A52CDD283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708" y="2038350"/>
            <a:ext cx="2522366" cy="784943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39A52C66-01BB-7B37-5051-67D81B941629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75854" y="658534"/>
            <a:ext cx="2933393" cy="1556163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B466A2DB-952B-51F8-FC87-62E48E3AC3AC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86400" y="3387102"/>
            <a:ext cx="3446551" cy="605644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9DD5ACF7-27A0-06ED-D3B3-AEC11E8C3F94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18618" y="3967591"/>
            <a:ext cx="4145605" cy="803151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FDB07241-9F7A-48E8-CBB0-6D3D32E1376C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74633" y="2274472"/>
            <a:ext cx="3458318" cy="1084977"/>
          </a:xfrm>
          <a:prstGeom prst="rect">
            <a:avLst/>
          </a:prstGeom>
        </p:spPr>
      </p:pic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7E40BA02-FEB7-8DB6-AB86-CA34ECA42EFC}"/>
              </a:ext>
            </a:extLst>
          </p:cNvPr>
          <p:cNvCxnSpPr/>
          <p:nvPr/>
        </p:nvCxnSpPr>
        <p:spPr>
          <a:xfrm>
            <a:off x="4038600" y="1047750"/>
            <a:ext cx="0" cy="2919841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F2BDF588-426E-536A-3BF6-DA4447708C97}"/>
              </a:ext>
            </a:extLst>
          </p:cNvPr>
          <p:cNvSpPr txBox="1"/>
          <p:nvPr/>
        </p:nvSpPr>
        <p:spPr>
          <a:xfrm>
            <a:off x="0" y="4863155"/>
            <a:ext cx="2209800" cy="261610"/>
          </a:xfrm>
          <a:prstGeom prst="rect">
            <a:avLst/>
          </a:prstGeom>
          <a:solidFill>
            <a:schemeClr val="accent1">
              <a:lumMod val="50000"/>
            </a:schemeClr>
          </a:solidFill>
          <a:scene3d>
            <a:camera prst="orthographicFront"/>
            <a:lightRig rig="threePt" dir="t"/>
          </a:scene3d>
          <a:sp3d>
            <a:bevelT/>
          </a:sp3d>
        </p:spPr>
        <p:txBody>
          <a:bodyPr wrap="square" rtlCol="0">
            <a:spAutoFit/>
          </a:bodyPr>
          <a:lstStyle/>
          <a:p>
            <a:pPr algn="ctr"/>
            <a:r>
              <a:rPr lang="en-US" sz="1100" b="1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06 / 07 Sep 2026</a:t>
            </a:r>
          </a:p>
        </p:txBody>
      </p:sp>
    </p:spTree>
    <p:extLst>
      <p:ext uri="{BB962C8B-B14F-4D97-AF65-F5344CB8AC3E}">
        <p14:creationId xmlns:p14="http://schemas.microsoft.com/office/powerpoint/2010/main" val="182530775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2053</TotalTime>
  <Words>566</Words>
  <Application>Microsoft Office PowerPoint</Application>
  <PresentationFormat>On-screen Show (16:9)</PresentationFormat>
  <Paragraphs>65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4" baseType="lpstr">
      <vt:lpstr>Arial</vt:lpstr>
      <vt:lpstr>Calibri</vt:lpstr>
      <vt:lpstr>Cambria Math</vt:lpstr>
      <vt:lpstr>Google Sans</vt:lpstr>
      <vt:lpstr>Google Sans Text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Maj Nazmul</dc:creator>
  <cp:lastModifiedBy>cyber range</cp:lastModifiedBy>
  <cp:revision>221</cp:revision>
  <cp:lastPrinted>2024-11-14T02:57:10Z</cp:lastPrinted>
  <dcterms:created xsi:type="dcterms:W3CDTF">2006-08-16T00:00:00Z</dcterms:created>
  <dcterms:modified xsi:type="dcterms:W3CDTF">2026-09-05T17:02:09Z</dcterms:modified>
</cp:coreProperties>
</file>