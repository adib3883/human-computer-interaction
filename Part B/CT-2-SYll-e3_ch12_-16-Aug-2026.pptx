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8" r:id="rId3"/>
    <p:sldId id="282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4" r:id="rId14"/>
    <p:sldId id="269" r:id="rId15"/>
    <p:sldId id="270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0" r:id="rId29"/>
    <p:sldId id="301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87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5194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096C0-B852-D422-AB4D-C43FF7109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F3FEAB-F800-DBD3-7510-DB46F7DBD3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D2CC77-FFF6-E440-18E5-3DF131F26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159DC-4B27-7D81-2EFA-3D6F86E816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668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61707-4223-25CB-A87A-E2326ED59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E33961-81E7-5DC8-F705-74F026FE3D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F40164-D1AA-7BAE-FAF2-71A53A52D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2455D-B1D9-F271-5F8C-36442B01A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739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94B4B-09F4-5EF2-ACD2-61F851C6B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D0F12B-AB21-524D-8BB8-7ED44E137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5D26EB-3576-8ED8-E309-19712A8031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17A39-3926-C74F-3540-2A5FF2C9EE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8801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6467C-BC53-27DD-E1F8-60C09C4B6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F6C4F4-A100-9427-C0CD-621F1F37EE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E0D15-18CA-68D2-B2D3-1A698D2204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5C646-0B77-9250-C5F0-7A46C6AEA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7881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675AB-6304-D068-32B6-3201C1334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D15B6A-9359-DC0D-FEA1-8F8BF2CD6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80C26D-C96E-ED6C-3B75-1E486F6C25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97E5F-66F5-52EA-85D3-C3AE67C6FB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321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38C84-96EA-467A-2678-B9420C28B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ECC4AF-043D-5EB2-2575-BB91C73344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DC2B60-F947-7DB1-2A1E-ADCD497DC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75612-16A0-7832-0E0E-5F518B142F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0380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2B35C-5ED1-BE56-CF27-027ADC316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ABB741-2BE7-FC96-E55A-DEDAEA537C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BF8355-F6E3-25E0-5B27-97B91B6DC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D62F3-7AB7-82A4-FA6D-E78A51C6B6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4356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05D5A-0721-A3AD-F966-85A629C49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3FD736-B947-B4C1-FC0D-3F3912C59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F49FBF-05B4-ED04-A96E-597BBE3BE4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89122-7D7E-A2C8-2932-C4AA701CE2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0106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2018B-B4F2-ECB9-ABE5-51ED1A4E9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CAA11F-96F0-40CB-85F1-28C8A55FD0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F52E03-1216-FF9E-ABB6-C00BD453D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DFA7A2-F8FA-F7E4-75DF-2549AE1F61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7347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D4766-1EFB-0655-C9D0-1D86F9A74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A82683-E4AF-259D-9FF4-5C9A52A794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1E9593-8848-F19D-A1DB-6E70B5978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67515-59F0-C9FB-509C-7C8CA95323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6193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996F6-9B1A-E4D1-AA56-0C241FA11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8A35B6-3AB6-C61C-BD36-E329CDF1A9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5FBE7-1100-25C3-D602-64F8E70F2D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51E91-0600-FFAF-C3CF-9DEA707B16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1828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44206-1EF9-30EB-39ED-032E5CD33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EEA921-5DA8-EFDD-5FA4-36DFE4FE2F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9A3069-8525-0869-B680-1CE2B0C4A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66C1A-9C6A-B3C0-F651-1637898710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807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E2780-81FC-929D-0F1E-C3E6C4575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78B699-617F-B4E3-7A47-37FF66B6A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C5887D-4C11-EC85-81CD-A57E105260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7127B-7901-71AC-CAEA-5168FCDF43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1037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59E06-64B7-EE15-68B8-E24EF52CA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335054-8288-FC9C-D1FE-87CC1D74DC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FFA003-D9BD-D3F9-A548-62D9BB3505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6901B-AB5F-2624-1445-54F0D7F007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3754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2CA39-87CA-6663-134B-3CF2B19A7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D217B8-12D2-351C-CAB8-C911704F07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4E5E97-A1E0-7B88-80CC-B67CFDC811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B73A57-2D86-D82E-8EDD-E458575B0E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3070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F7996-BAAB-5D5C-E47B-C636C2C64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E1915F-9DFC-0D5C-1D31-E35C87A214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25357D-23D9-1BD0-2708-B63B4BDD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549922-E04C-79C6-DD51-EC2D99669C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814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097280"/>
            <a:ext cx="4206240" cy="42062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881360" y="4297680"/>
            <a:ext cx="2743200" cy="2743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· CHAPTER 12 · EVALUATION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Observing Users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D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behavior to design insight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" y="4343400"/>
            <a:ext cx="128016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5989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in Computer Science &amp; Engineering  ·  Human-Computer Interaction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Dix, Finlay, Abowd &amp; Beale — “Observing Users”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Class, You Can...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EAF3F7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2B34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0574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202996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a method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an observation technique (lab vs. field, note-taking vs. logging) to a study's goals and constraints.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EAF3F7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2B34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0" y="20574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2057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60920" y="202996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a framework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29400" y="265176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Goetz &amp; LeCompte's 7-Ws to turn messy observation into structured field notes.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EAF3F7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2B34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8680" y="420624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4206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45920" y="417880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 software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4400" y="480060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minimal event-logging schema to capture interaction data automatically.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88620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EAF3F7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2B34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83680" y="420624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0" y="4206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360920" y="417880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from data to design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29400" y="480060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 qualitative pattern in a transcript to a concrete, testable redesign proposal.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D10C1-5269-493B-BDD1-23DCFFDC7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8ECACBEB-118D-1AEF-8446-DDBD82219F3F}"/>
              </a:ext>
            </a:extLst>
          </p:cNvPr>
          <p:cNvSpPr/>
          <p:nvPr/>
        </p:nvSpPr>
        <p:spPr>
          <a:xfrm>
            <a:off x="4169276" y="1544753"/>
            <a:ext cx="2743200" cy="2743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189F1C2-C80C-EEAB-7F70-AE2C21D61BFD}"/>
              </a:ext>
            </a:extLst>
          </p:cNvPr>
          <p:cNvSpPr/>
          <p:nvPr/>
        </p:nvSpPr>
        <p:spPr>
          <a:xfrm>
            <a:off x="4345347" y="2714990"/>
            <a:ext cx="2391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</a:p>
          <a:p>
            <a:pPr marL="0" indent="0" algn="ctr">
              <a:buNone/>
            </a:pPr>
            <a:r>
              <a:rPr lang="en-US" sz="60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???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427679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Observe Users?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EAF3F7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2B34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&amp; social setting shape use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 that's easy alone may fail in a noisy ward with interruptions every 90 seconds.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2B34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17720" y="20116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17720" y="25146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artifact is actually handled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17720" y="310896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fingers, eyes and devices go — not where the specification says they should.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73736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EAF3F7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2B34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12480" y="20116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412480" y="25146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moment-to-moment behavior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12480" y="310896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Hesitations, backtracking and workarounds that surveys and interviews never surface.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BEFD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TRADE-OFF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51206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Ecological validity (realistic, messy, field data) vs. experimental control (clean, comparable, lab data). Observation studies sit on this spectrum — you rarely get both at full strength.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 We Observe?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97680"/>
          </a:xfrm>
          <a:prstGeom prst="roundRect">
            <a:avLst>
              <a:gd name="adj" fmla="val 1915"/>
            </a:avLst>
          </a:prstGeom>
          <a:solidFill>
            <a:srgbClr val="EAF3F7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2B34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868680"/>
          </a:xfrm>
          <a:prstGeom prst="roundRect">
            <a:avLst>
              <a:gd name="adj" fmla="val 9474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81051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Environment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2128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lab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926080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70432" y="280720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tasks, script, and equipment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611880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6118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70432" y="349300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record (fixed cameras, mic array)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297680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42976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70432" y="417880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comparability across participants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4983480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49834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70432" y="486460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behavior doesn't transfer to real use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09360" y="1691640"/>
            <a:ext cx="5349240" cy="4297680"/>
          </a:xfrm>
          <a:prstGeom prst="roundRect">
            <a:avLst>
              <a:gd name="adj" fmla="val 1915"/>
            </a:avLst>
          </a:prstGeom>
          <a:solidFill>
            <a:srgbClr val="EAF3F7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2B34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09360" y="1691640"/>
            <a:ext cx="5349240" cy="868680"/>
          </a:xfrm>
          <a:prstGeom prst="roundRect">
            <a:avLst>
              <a:gd name="adj" fmla="val 947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83680" y="181051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Field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583680" y="22128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inquiry, “in the wild”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0" y="292608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83680" y="29260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31152" y="280720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device, real workspace, real interruptions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83680" y="361188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83680" y="36118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31152" y="349300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Richer, messier, harder to instrument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83680" y="429768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0" y="42976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31152" y="417880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workarounds a lab never would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583680" y="498348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583680" y="49834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31152" y="486460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hard to compare across sessions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WATCHING?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Observer's Stance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2880360"/>
            <a:ext cx="10332720" cy="0"/>
          </a:xfrm>
          <a:prstGeom prst="line">
            <a:avLst/>
          </a:prstGeom>
          <a:noFill/>
          <a:ln w="76200">
            <a:solidFill>
              <a:srgbClr val="D7E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651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Outsider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36576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without joining; minimal influence on behavior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166360" y="2651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8056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51960" y="36576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the activity while observing from inside it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418320" y="2651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73252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Ethnographer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03920" y="36576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long-term to understand culture &amp; norms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BEFD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4919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NOTE — REACTIVITY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521208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Hawthorne effect: being watched changes behavior. 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closer the observer sits to “Outsider,” the less this distorts the data — but the less context you gain. 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BEATS IMPROVISATION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Framework to Guide Observation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Goetz &amp; LeCompte (1984) — seven questions to keep field notes complete and comparable across sessions.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2B34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1762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72491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present?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37560" y="201168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2B34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20440" y="21762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20440" y="272491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their role?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201168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2B34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9360" y="21762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09360" y="272491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happening?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15400" y="201168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2B34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098280" y="21762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098280" y="272491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occur?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EAF3F7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2B34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7307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31520" y="427939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happening?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337560" y="356616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EAF3F7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2B34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20440" y="37307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520440" y="427939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happening?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26480" y="356616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EAF3F7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2B34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09360" y="37307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09360" y="427939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organized?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915400" y="356616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BEFD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098280" y="3886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available — Dix et al., p.369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352800" y="19888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ACTIVITY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981200" y="2614795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Notes, Live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Capturing Data I — Notes &amp; Stills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926080" cy="996696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2560320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0" y="1691640"/>
            <a:ext cx="4069080" cy="996696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0" y="1691640"/>
            <a:ext cx="3703320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543800" y="1691640"/>
            <a:ext cx="4069080" cy="996696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26680" y="1691640"/>
            <a:ext cx="3703320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out for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2926080" cy="99669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798064"/>
            <a:ext cx="25603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notes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474720" y="2743200"/>
            <a:ext cx="4069080" cy="99669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0" y="2798064"/>
            <a:ext cx="37033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flexible, no equipment to fail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43800" y="2743200"/>
            <a:ext cx="4069080" cy="99669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26680" y="2798064"/>
            <a:ext cx="37033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speed limits detail; hard to write and watch at once — pair up if you can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2926080" cy="996696"/>
          </a:xfrm>
          <a:prstGeom prst="rect">
            <a:avLst/>
          </a:prstGeom>
          <a:solidFill>
            <a:srgbClr val="EAF3F7"/>
          </a:solidFill>
          <a:ln w="12700">
            <a:solidFill>
              <a:srgbClr val="D7E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849624"/>
            <a:ext cx="25603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notes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474720" y="3794760"/>
            <a:ext cx="4069080" cy="996696"/>
          </a:xfrm>
          <a:prstGeom prst="rect">
            <a:avLst/>
          </a:prstGeom>
          <a:solidFill>
            <a:srgbClr val="EAF3F7"/>
          </a:solidFill>
          <a:ln w="12700">
            <a:solidFill>
              <a:srgbClr val="D7E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0" y="3849624"/>
            <a:ext cx="37033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capture, searchable, timestamped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43800" y="3794760"/>
            <a:ext cx="4069080" cy="996696"/>
          </a:xfrm>
          <a:prstGeom prst="rect">
            <a:avLst/>
          </a:prstGeom>
          <a:solidFill>
            <a:srgbClr val="EAF3F7"/>
          </a:solidFill>
          <a:ln w="12700">
            <a:solidFill>
              <a:srgbClr val="D7E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26680" y="3849624"/>
            <a:ext cx="37033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is intrusive; typing noise and eye contact loss change participant behavior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2926080" cy="99669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1520" y="4901184"/>
            <a:ext cx="25603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photography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3474720" y="4846320"/>
            <a:ext cx="4069080" cy="99669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0" y="4901184"/>
            <a:ext cx="37033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collect, evaluator stays mobile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543800" y="4846320"/>
            <a:ext cx="4069080" cy="99669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26680" y="4901184"/>
            <a:ext cx="37033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Freezes a single instant — no sense of sequence or duration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Capturing Data II — Audio &amp; Video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926080" cy="127101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2560320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0" y="1691640"/>
            <a:ext cx="4069080" cy="127101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0" y="1691640"/>
            <a:ext cx="3703320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543800" y="1691640"/>
            <a:ext cx="4069080" cy="127101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26680" y="1691640"/>
            <a:ext cx="3703320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out for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2926080" cy="127101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3072384"/>
            <a:ext cx="2560320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474720" y="3017520"/>
            <a:ext cx="4069080" cy="127101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0" y="3072384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Inexpensive, low-intrusion, evaluator stays mobile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543800" y="3017520"/>
            <a:ext cx="4069080" cy="127101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26680" y="3072384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visual record of gesture or gaze; transcription is slow and lossy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2926080" cy="1271016"/>
          </a:xfrm>
          <a:prstGeom prst="rect">
            <a:avLst/>
          </a:prstGeom>
          <a:solidFill>
            <a:srgbClr val="EAF3F7"/>
          </a:solidFill>
          <a:ln w="12700">
            <a:solidFill>
              <a:srgbClr val="D7E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4398264"/>
            <a:ext cx="2560320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474720" y="4343400"/>
            <a:ext cx="4069080" cy="1271016"/>
          </a:xfrm>
          <a:prstGeom prst="rect">
            <a:avLst/>
          </a:prstGeom>
          <a:solidFill>
            <a:srgbClr val="EAF3F7"/>
          </a:solidFill>
          <a:ln w="12700">
            <a:solidFill>
              <a:srgbClr val="D7E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0" y="4398264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visual + audio together; unobtrusive with small cameras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543800" y="4343400"/>
            <a:ext cx="4069080" cy="1271016"/>
          </a:xfrm>
          <a:prstGeom prst="rect">
            <a:avLst/>
          </a:prstGeom>
          <a:solidFill>
            <a:srgbClr val="EAF3F7"/>
          </a:solidFill>
          <a:ln w="12700">
            <a:solidFill>
              <a:srgbClr val="D7E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26680" y="4398264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to analyze; the lens frames what you see, missing the rest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Capturing Data III — Interaction Logging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click, keystroke and navigation event, captured automatically and timestamped — no observer required.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577840" cy="2743200"/>
          </a:xfrm>
          <a:prstGeom prst="roundRect">
            <a:avLst>
              <a:gd name="adj" fmla="val 3000"/>
            </a:avLst>
          </a:prstGeom>
          <a:solidFill>
            <a:srgbClr val="0B2E44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2B34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CE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CE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"event":     "click",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CE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"target":    "#submit-btn",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CE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"pageState": "checkout/step-2",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CE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"userId":    "P07",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CE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"sessionId": "S1123",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CE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"timestamp": "2026-08-14T10:03:22Z"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CE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874520"/>
            <a:ext cx="5257800" cy="1280160"/>
          </a:xfrm>
          <a:prstGeom prst="roundRect">
            <a:avLst>
              <a:gd name="adj" fmla="val 6429"/>
            </a:avLst>
          </a:prstGeom>
          <a:solidFill>
            <a:srgbClr val="EAF3F7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2B34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0" y="19933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22860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Complete, unobtrusive, precisely timestamped, effortlessly transparent to the user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3291840"/>
            <a:ext cx="5257800" cy="1325880"/>
          </a:xfrm>
          <a:prstGeom prst="roundRect">
            <a:avLst>
              <a:gd name="adj" fmla="val 6207"/>
            </a:avLst>
          </a:prstGeom>
          <a:solidFill>
            <a:srgbClr val="EAF3F7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2B34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34107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370332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facial expression, tone, and “why” — pair with notes or video for the full picture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800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tooling: custom event pipelines (structured logs → warehouse), session-replay platforms (FullStory, Hotjar), and product analytics (GA4, Mixpanel, Amplitude).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 Techniques: Triangulation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206240" cy="4206240"/>
          </a:xfrm>
          <a:prstGeom prst="roundRect">
            <a:avLst>
              <a:gd name="adj" fmla="val 1957"/>
            </a:avLst>
          </a:prstGeom>
          <a:solidFill>
            <a:srgbClr val="EAF3F7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2B34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212080" y="2148840"/>
            <a:ext cx="2743200" cy="2743200"/>
          </a:xfrm>
          <a:prstGeom prst="ellipse">
            <a:avLst/>
          </a:prstGeom>
          <a:solidFill>
            <a:srgbClr val="065A82">
              <a:alpha val="38000"/>
            </a:srgbClr>
          </a:solidFill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766560" y="2148840"/>
            <a:ext cx="2743200" cy="2743200"/>
          </a:xfrm>
          <a:prstGeom prst="ellipse">
            <a:avLst/>
          </a:prstGeom>
          <a:solidFill>
            <a:srgbClr val="1C7293">
              <a:alpha val="38000"/>
            </a:srgbClr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89320" y="3474720"/>
            <a:ext cx="2743200" cy="2743200"/>
          </a:xfrm>
          <a:prstGeom prst="ellipse">
            <a:avLst/>
          </a:prstGeom>
          <a:solidFill>
            <a:srgbClr val="E8A33D">
              <a:alpha val="38000"/>
            </a:srgbClr>
          </a:solidFill>
          <a:ln w="254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55080" y="35204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Triangulated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878324" y="29489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831836" y="29489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/ Audio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526923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Logs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combine?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23774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technique captures everything: logs miss intent, video misses scale, notes miss precision. Techniques are typically combined — which requires deliberate coordination.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3840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checklist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416052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Synchronize clocks across devices before the session</a:t>
            </a:r>
            <a:endParaRPr lang="en-US" sz="1150" dirty="0"/>
          </a:p>
          <a:p>
            <a:pPr marL="0" indent="0" algn="just"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Tag each artifact with session ID + participant ID</a:t>
            </a:r>
            <a:endParaRPr lang="en-US" sz="1150" dirty="0"/>
          </a:p>
          <a:p>
            <a:pPr marL="0" indent="0" algn="just"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 start/stop events so replay can re-align notes to timestamps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DDE84-17DC-1629-23E3-10A1B793C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5D59885-074E-5744-6087-3AE6C0FDC764}"/>
              </a:ext>
            </a:extLst>
          </p:cNvPr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117C34F-A5E3-A9A7-849F-48891D4770D8}"/>
              </a:ext>
            </a:extLst>
          </p:cNvPr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 Techniques: Triangulation</a:t>
            </a:r>
            <a:endParaRPr lang="en-US" sz="3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259C2B9-DA2B-0104-0EDB-2C9898C51CC6}"/>
              </a:ext>
            </a:extLst>
          </p:cNvPr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17" name="Picture 16" descr="Most advanced eye tracking system — Tobii Pro Spectrum - Tobii">
            <a:extLst>
              <a:ext uri="{FF2B5EF4-FFF2-40B4-BE49-F238E27FC236}">
                <a16:creationId xmlns:a16="http://schemas.microsoft.com/office/drawing/2014/main" id="{D22D092D-4F16-C304-E15D-1C6B2C720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0165" y="1481328"/>
            <a:ext cx="6590490" cy="439366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79D626A-A3A8-5686-2B18-A13BAF14A93A}"/>
              </a:ext>
            </a:extLst>
          </p:cNvPr>
          <p:cNvSpPr txBox="1"/>
          <p:nvPr/>
        </p:nvSpPr>
        <p:spPr>
          <a:xfrm>
            <a:off x="3030165" y="5943600"/>
            <a:ext cx="65904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</a:rPr>
              <a:t>Photo Source: https://www.tobii.com/products/eye-trackers/screen-based/tobii-pro-spectrum </a:t>
            </a:r>
          </a:p>
        </p:txBody>
      </p:sp>
    </p:spTree>
    <p:extLst>
      <p:ext uri="{BB962C8B-B14F-4D97-AF65-F5344CB8AC3E}">
        <p14:creationId xmlns:p14="http://schemas.microsoft.com/office/powerpoint/2010/main" val="3152264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 Meaning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868680"/>
          </a:xfrm>
          <a:prstGeom prst="roundRect">
            <a:avLst>
              <a:gd name="adj" fmla="val 9474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Qualitative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5349240" cy="3291840"/>
          </a:xfrm>
          <a:prstGeom prst="roundRect">
            <a:avLst>
              <a:gd name="adj" fmla="val 2500"/>
            </a:avLst>
          </a:prstGeom>
          <a:solidFill>
            <a:srgbClr val="EAF3F7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2B34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822960" y="2971800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70432" y="2715768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Interpreted to tell the “story” of what was observed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886200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70432" y="3630168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Categorized with techniques such as content analysis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4800600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70432" y="4544568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themes, incidents, breakdowns, quotes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09360" y="1691640"/>
            <a:ext cx="5349240" cy="868680"/>
          </a:xfrm>
          <a:prstGeom prst="roundRect">
            <a:avLst>
              <a:gd name="adj" fmla="val 947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0" y="16916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Quantitative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309360" y="2697480"/>
            <a:ext cx="5349240" cy="3291840"/>
          </a:xfrm>
          <a:prstGeom prst="roundRect">
            <a:avLst>
              <a:gd name="adj" fmla="val 2500"/>
            </a:avLst>
          </a:prstGeom>
          <a:solidFill>
            <a:srgbClr val="EAF3F7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2B34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6" name="Shape 14"/>
          <p:cNvSpPr/>
          <p:nvPr/>
        </p:nvSpPr>
        <p:spPr>
          <a:xfrm>
            <a:off x="6583680" y="297180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31152" y="2715768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from interaction &amp; video logs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83680" y="388620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31152" y="3630168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as values, tables, charts, graphs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83680" y="480060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31152" y="4544568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treated statistically — means, frequencies, tests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QUALITATIVE DATA RIGOROUS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Deep Dive — Coding &amp; Reliability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678998" y="1691640"/>
            <a:ext cx="5577840" cy="4343400"/>
          </a:xfrm>
          <a:prstGeom prst="roundRect">
            <a:avLst>
              <a:gd name="adj" fmla="val 1895"/>
            </a:avLst>
          </a:prstGeom>
          <a:solidFill>
            <a:srgbClr val="EAF3F7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2B34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953318" y="1920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coding scheme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953318" y="2377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mutually-exclusive codes before analysis, e.g.: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953318" y="2811780"/>
            <a:ext cx="1483468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53318" y="2743200"/>
            <a:ext cx="393386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confusion         </a:t>
            </a: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user unsure where to go next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953318" y="3566160"/>
            <a:ext cx="1483468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38078" y="3520440"/>
            <a:ext cx="4231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discovery           </a:t>
            </a: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user finds a feature unprompted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953318" y="4343400"/>
            <a:ext cx="1483468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067618" y="429768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recovery                </a:t>
            </a: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user recovers from a mistake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53318" y="52578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coders label the same transcript with these codes — then we check how well they agree.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0168B-19D4-F281-3B9D-8C211694F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EE80D22-56F6-FD36-D4EC-53923EF1A0CC}"/>
              </a:ext>
            </a:extLst>
          </p:cNvPr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QUALITATIVE DATA RIGOROUS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357BC13-6825-8683-E19A-E2125916BA1B}"/>
              </a:ext>
            </a:extLst>
          </p:cNvPr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Component Analysis (PCA) for User </a:t>
            </a:r>
            <a:r>
              <a:rPr lang="en-US" sz="2800" b="1" dirty="0" err="1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</a:t>
            </a:r>
            <a:r>
              <a:rPr lang="en-US" sz="28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Analysis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F65CC6E-2652-D32F-2C8D-BB5F2A6F6CF7}"/>
              </a:ext>
            </a:extLst>
          </p:cNvPr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7D508F-C6C8-BD11-CDE4-0FF9A569B738}"/>
              </a:ext>
            </a:extLst>
          </p:cNvPr>
          <p:cNvSpPr txBox="1"/>
          <p:nvPr/>
        </p:nvSpPr>
        <p:spPr>
          <a:xfrm>
            <a:off x="1653156" y="1755648"/>
            <a:ext cx="858740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/>
              <a:t>Why do we need PCA?</a:t>
            </a:r>
          </a:p>
          <a:p>
            <a:pPr algn="ctr"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Modern HCI systems collect a large number of interaction features from users.</a:t>
            </a:r>
          </a:p>
          <a:p>
            <a:pPr>
              <a:buNone/>
            </a:pPr>
            <a:r>
              <a:rPr lang="en-US" dirty="0"/>
              <a:t>	Example: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dirty="0"/>
              <a:t>Number of mouse clicks 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dirty="0"/>
              <a:t>Mouse movement distance 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dirty="0"/>
              <a:t>Mouse velocity 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dirty="0"/>
              <a:t>Typing speed 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dirty="0"/>
              <a:t>Scroll count 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dirty="0"/>
              <a:t>Eye fixation duration 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dirty="0"/>
              <a:t>Blink rate 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dirty="0"/>
              <a:t>Task completion time 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dirty="0"/>
              <a:t>Error count 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dirty="0"/>
              <a:t>Idle time </a:t>
            </a:r>
          </a:p>
          <a:p>
            <a:pPr>
              <a:buNone/>
            </a:pPr>
            <a:r>
              <a:rPr lang="en-US" dirty="0"/>
              <a:t>Now suppose we collect </a:t>
            </a:r>
            <a:r>
              <a:rPr lang="en-US" b="1" dirty="0"/>
              <a:t>20 features from 5,000 users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92485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5AFCA-CCC5-D62C-4F48-CD119EF20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CBCFB73-F692-83E7-6ED8-7C2925381698}"/>
              </a:ext>
            </a:extLst>
          </p:cNvPr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QUALITATIVE DATA RIGOROUS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9D624D7-D0D7-D7EF-7108-3ABCE7A9B82A}"/>
              </a:ext>
            </a:extLst>
          </p:cNvPr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Component Analysis (PCA) for User </a:t>
            </a:r>
            <a:r>
              <a:rPr lang="en-US" sz="2800" b="1" dirty="0" err="1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</a:t>
            </a:r>
            <a:r>
              <a:rPr lang="en-US" sz="28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Analysis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6C40030-1B42-EA7C-7977-79199A562668}"/>
              </a:ext>
            </a:extLst>
          </p:cNvPr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39F0BE-C951-6DD2-86F6-76D0DA2B4679}"/>
              </a:ext>
            </a:extLst>
          </p:cNvPr>
          <p:cNvSpPr txBox="1"/>
          <p:nvPr/>
        </p:nvSpPr>
        <p:spPr>
          <a:xfrm>
            <a:off x="3064212" y="2051499"/>
            <a:ext cx="5414161" cy="3788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/>
              <a:t>Why do we need PCA?</a:t>
            </a:r>
          </a:p>
          <a:p>
            <a:pPr>
              <a:lnSpc>
                <a:spcPct val="150000"/>
              </a:lnSpc>
              <a:buNone/>
            </a:pPr>
            <a:endParaRPr lang="en-US" b="1" dirty="0"/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Problem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Difficult to visualize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Many features are redundant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Some features are highly correlated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Machine learning becomes slower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Noise increases 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Solution:</a:t>
            </a:r>
            <a:r>
              <a:rPr lang="en-US" dirty="0"/>
              <a:t> Principal Component Analysis (PCA)</a:t>
            </a:r>
          </a:p>
        </p:txBody>
      </p:sp>
    </p:spTree>
    <p:extLst>
      <p:ext uri="{BB962C8B-B14F-4D97-AF65-F5344CB8AC3E}">
        <p14:creationId xmlns:p14="http://schemas.microsoft.com/office/powerpoint/2010/main" val="42077326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5F3B8-C61B-F5AA-A49E-CD418E163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160F7B0-4394-9911-6EA0-2474BF25DBA3}"/>
              </a:ext>
            </a:extLst>
          </p:cNvPr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QUALITATIVE DATA RIGOROUS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177128B-74A5-AA6A-CBEB-D287E620DB42}"/>
              </a:ext>
            </a:extLst>
          </p:cNvPr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Component Analysis (PCA) for User </a:t>
            </a:r>
            <a:r>
              <a:rPr lang="en-US" sz="2800" b="1" dirty="0" err="1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</a:t>
            </a:r>
            <a:r>
              <a:rPr lang="en-US" sz="28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Analysis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A68E0B1-66D2-9EB0-DE8B-F9DABFEA832A}"/>
              </a:ext>
            </a:extLst>
          </p:cNvPr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299381-5C81-50ED-7CDB-811D4D884623}"/>
              </a:ext>
            </a:extLst>
          </p:cNvPr>
          <p:cNvSpPr txBox="1"/>
          <p:nvPr/>
        </p:nvSpPr>
        <p:spPr>
          <a:xfrm>
            <a:off x="1714894" y="1905506"/>
            <a:ext cx="793656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600" b="1" dirty="0"/>
              <a:t>What is PCA?</a:t>
            </a:r>
          </a:p>
          <a:p>
            <a:pPr algn="just">
              <a:buNone/>
            </a:pPr>
            <a:r>
              <a:rPr lang="en-US" sz="1600" dirty="0"/>
              <a:t>PCA is a statistical technique that transforms many correlated variables into a smaller number of new variables (called </a:t>
            </a:r>
            <a:r>
              <a:rPr lang="en-US" sz="1600" b="1" dirty="0"/>
              <a:t>Principal Components</a:t>
            </a:r>
            <a:r>
              <a:rPr lang="en-US" sz="1600" dirty="0"/>
              <a:t>) while preserving as much information as possible.</a:t>
            </a:r>
          </a:p>
          <a:p>
            <a:pPr algn="just">
              <a:buNone/>
            </a:pPr>
            <a:endParaRPr lang="en-US" sz="1600" dirty="0"/>
          </a:p>
          <a:p>
            <a:pPr algn="just">
              <a:buNone/>
            </a:pPr>
            <a:endParaRPr lang="en-US" sz="1600" dirty="0"/>
          </a:p>
          <a:p>
            <a:pPr algn="just">
              <a:buNone/>
            </a:pPr>
            <a:r>
              <a:rPr lang="en-US" sz="1600" dirty="0"/>
              <a:t>Instead of analyzing</a:t>
            </a:r>
          </a:p>
          <a:p>
            <a:pPr algn="just" rtl="0">
              <a:buNone/>
            </a:pPr>
            <a:r>
              <a:rPr lang="en-US" sz="1600" dirty="0">
                <a:latin typeface="Courier New" panose="02070309020205020404" pitchFamily="49" charset="0"/>
              </a:rPr>
              <a:t>	20 features</a:t>
            </a:r>
          </a:p>
          <a:p>
            <a:pPr algn="just">
              <a:buNone/>
            </a:pPr>
            <a:r>
              <a:rPr lang="en-US" sz="1600" dirty="0"/>
              <a:t>we may analyze only</a:t>
            </a:r>
          </a:p>
          <a:p>
            <a:pPr algn="just" rtl="0">
              <a:buNone/>
            </a:pPr>
            <a:r>
              <a:rPr lang="en-US" sz="1600" dirty="0">
                <a:latin typeface="Courier New" panose="02070309020205020404" pitchFamily="49" charset="0"/>
              </a:rPr>
              <a:t>	2 or 3 Principal Components</a:t>
            </a:r>
          </a:p>
          <a:p>
            <a:pPr algn="just">
              <a:buNone/>
            </a:pPr>
            <a:endParaRPr lang="en-US" sz="1600" dirty="0"/>
          </a:p>
          <a:p>
            <a:pPr algn="just">
              <a:buNone/>
            </a:pPr>
            <a:r>
              <a:rPr lang="en-US" sz="1600" dirty="0"/>
              <a:t>that explain 90–95% of the original information.</a:t>
            </a:r>
          </a:p>
        </p:txBody>
      </p:sp>
    </p:spTree>
    <p:extLst>
      <p:ext uri="{BB962C8B-B14F-4D97-AF65-F5344CB8AC3E}">
        <p14:creationId xmlns:p14="http://schemas.microsoft.com/office/powerpoint/2010/main" val="37869554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F7514-EF95-DECF-E064-F7BFAC150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0AC876F-2F4E-0306-4790-DBFE1964B5CA}"/>
              </a:ext>
            </a:extLst>
          </p:cNvPr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QUALITATIVE DATA RIGOROUS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A32CE7E-A57B-89F3-633B-96C1A313ED32}"/>
              </a:ext>
            </a:extLst>
          </p:cNvPr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Component Analysis (PCA) for User </a:t>
            </a:r>
            <a:r>
              <a:rPr lang="en-US" sz="2800" b="1" dirty="0" err="1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</a:t>
            </a:r>
            <a:r>
              <a:rPr lang="en-US" sz="28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Analysis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362925A-A15D-3E0E-7A1D-01C50E933402}"/>
              </a:ext>
            </a:extLst>
          </p:cNvPr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6D4BAD-2BF9-E975-DCEE-8B1C53A18B10}"/>
              </a:ext>
            </a:extLst>
          </p:cNvPr>
          <p:cNvSpPr txBox="1"/>
          <p:nvPr/>
        </p:nvSpPr>
        <p:spPr>
          <a:xfrm>
            <a:off x="3047965" y="1881757"/>
            <a:ext cx="4651512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 dirty="0"/>
              <a:t>PCA Workflow</a:t>
            </a:r>
          </a:p>
          <a:p>
            <a:pPr algn="ctr">
              <a:buNone/>
            </a:pPr>
            <a:r>
              <a:rPr lang="en-US" sz="1400" b="1" dirty="0"/>
              <a:t>Step 1</a:t>
            </a:r>
          </a:p>
          <a:p>
            <a:pPr algn="ctr">
              <a:buNone/>
            </a:pPr>
            <a:r>
              <a:rPr lang="en-US" sz="1400" dirty="0"/>
              <a:t>Collect user interaction data.</a:t>
            </a:r>
          </a:p>
          <a:p>
            <a:pPr algn="ctr">
              <a:buNone/>
            </a:pPr>
            <a:r>
              <a:rPr lang="en-US" sz="1400" dirty="0"/>
              <a:t>↓</a:t>
            </a:r>
          </a:p>
          <a:p>
            <a:pPr algn="ctr">
              <a:buNone/>
            </a:pPr>
            <a:r>
              <a:rPr lang="en-US" sz="1400" b="1" dirty="0"/>
              <a:t>Step 2</a:t>
            </a:r>
          </a:p>
          <a:p>
            <a:pPr algn="ctr">
              <a:buNone/>
            </a:pPr>
            <a:r>
              <a:rPr lang="en-US" sz="1400" dirty="0"/>
              <a:t>Standardize the features.</a:t>
            </a:r>
          </a:p>
          <a:p>
            <a:pPr algn="ctr">
              <a:buNone/>
            </a:pPr>
            <a:r>
              <a:rPr lang="en-US" sz="1400" dirty="0"/>
              <a:t>↓</a:t>
            </a:r>
          </a:p>
          <a:p>
            <a:pPr algn="ctr">
              <a:buNone/>
            </a:pPr>
            <a:r>
              <a:rPr lang="en-US" sz="1400" b="1" dirty="0"/>
              <a:t>Step 3</a:t>
            </a:r>
          </a:p>
          <a:p>
            <a:pPr algn="ctr">
              <a:buNone/>
            </a:pPr>
            <a:r>
              <a:rPr lang="en-US" sz="1400" dirty="0"/>
              <a:t>Measure relationships among features.</a:t>
            </a:r>
          </a:p>
          <a:p>
            <a:pPr algn="ctr">
              <a:buNone/>
            </a:pPr>
            <a:r>
              <a:rPr lang="en-US" sz="1400" dirty="0"/>
              <a:t>↓</a:t>
            </a:r>
          </a:p>
          <a:p>
            <a:pPr algn="ctr">
              <a:buNone/>
            </a:pPr>
            <a:r>
              <a:rPr lang="en-US" sz="1400" b="1" dirty="0"/>
              <a:t>Step 4</a:t>
            </a:r>
          </a:p>
          <a:p>
            <a:pPr algn="ctr">
              <a:buNone/>
            </a:pPr>
            <a:r>
              <a:rPr lang="en-US" sz="1400" dirty="0"/>
              <a:t>Identify the directions that contain the most information.</a:t>
            </a:r>
          </a:p>
          <a:p>
            <a:pPr algn="ctr">
              <a:buNone/>
            </a:pPr>
            <a:r>
              <a:rPr lang="en-US" sz="1400" dirty="0"/>
              <a:t>↓</a:t>
            </a:r>
          </a:p>
          <a:p>
            <a:pPr algn="ctr">
              <a:buNone/>
            </a:pPr>
            <a:r>
              <a:rPr lang="en-US" sz="1400" b="1" dirty="0"/>
              <a:t>Step 5</a:t>
            </a:r>
          </a:p>
          <a:p>
            <a:pPr algn="ctr">
              <a:buNone/>
            </a:pPr>
            <a:r>
              <a:rPr lang="en-US" sz="1400" dirty="0"/>
              <a:t>Replace many variables with a few Principal Components.</a:t>
            </a:r>
          </a:p>
          <a:p>
            <a:pPr algn="ctr">
              <a:buNone/>
            </a:pPr>
            <a:r>
              <a:rPr lang="en-US" sz="1400" dirty="0"/>
              <a:t>↓</a:t>
            </a:r>
          </a:p>
          <a:p>
            <a:pPr algn="ctr">
              <a:buNone/>
            </a:pPr>
            <a:r>
              <a:rPr lang="en-US" sz="1400" b="1" dirty="0"/>
              <a:t>Step 6</a:t>
            </a:r>
          </a:p>
          <a:p>
            <a:pPr algn="ctr">
              <a:buNone/>
            </a:pPr>
            <a:r>
              <a:rPr lang="en-US" sz="1400" dirty="0"/>
              <a:t>Interpret the Principal Components.</a:t>
            </a:r>
          </a:p>
        </p:txBody>
      </p:sp>
    </p:spTree>
    <p:extLst>
      <p:ext uri="{BB962C8B-B14F-4D97-AF65-F5344CB8AC3E}">
        <p14:creationId xmlns:p14="http://schemas.microsoft.com/office/powerpoint/2010/main" val="19303897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A98DC-3555-A227-54C4-34F5BB942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B6A3CA1-7B13-E9B5-D7E0-E1E7F2CA2218}"/>
              </a:ext>
            </a:extLst>
          </p:cNvPr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QUALITATIVE DATA RIGOROUS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458699D-73E5-BE43-8B4B-5B6A6B566A51}"/>
              </a:ext>
            </a:extLst>
          </p:cNvPr>
          <p:cNvSpPr/>
          <p:nvPr/>
        </p:nvSpPr>
        <p:spPr>
          <a:xfrm>
            <a:off x="50292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Component Analysis (PCA) for User </a:t>
            </a:r>
            <a:r>
              <a:rPr lang="en-US" sz="2800" b="1" dirty="0" err="1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</a:t>
            </a:r>
            <a:r>
              <a:rPr lang="en-US" sz="28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Analysis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635C3EB-2D43-FF08-292A-4585EF8C7421}"/>
              </a:ext>
            </a:extLst>
          </p:cNvPr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C7CB30B-284D-982A-AA10-58EB7A943A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140490"/>
              </p:ext>
            </p:extLst>
          </p:nvPr>
        </p:nvGraphicFramePr>
        <p:xfrm>
          <a:off x="301557" y="3812572"/>
          <a:ext cx="3036649" cy="1737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31280">
                  <a:extLst>
                    <a:ext uri="{9D8B030D-6E8A-4147-A177-3AD203B41FA5}">
                      <a16:colId xmlns:a16="http://schemas.microsoft.com/office/drawing/2014/main" val="3452609736"/>
                    </a:ext>
                  </a:extLst>
                </a:gridCol>
                <a:gridCol w="799518">
                  <a:extLst>
                    <a:ext uri="{9D8B030D-6E8A-4147-A177-3AD203B41FA5}">
                      <a16:colId xmlns:a16="http://schemas.microsoft.com/office/drawing/2014/main" val="2543658259"/>
                    </a:ext>
                  </a:extLst>
                </a:gridCol>
                <a:gridCol w="869274">
                  <a:extLst>
                    <a:ext uri="{9D8B030D-6E8A-4147-A177-3AD203B41FA5}">
                      <a16:colId xmlns:a16="http://schemas.microsoft.com/office/drawing/2014/main" val="1252807749"/>
                    </a:ext>
                  </a:extLst>
                </a:gridCol>
                <a:gridCol w="836577">
                  <a:extLst>
                    <a:ext uri="{9D8B030D-6E8A-4147-A177-3AD203B41FA5}">
                      <a16:colId xmlns:a16="http://schemas.microsoft.com/office/drawing/2014/main" val="40915075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Clicks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Mouse Distance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Typing Speed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9313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220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5436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240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647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610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72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5066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590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16304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571C9FA-237F-99A4-0AA8-BADEFCFC52E2}"/>
              </a:ext>
            </a:extLst>
          </p:cNvPr>
          <p:cNvSpPr txBox="1"/>
          <p:nvPr/>
        </p:nvSpPr>
        <p:spPr>
          <a:xfrm>
            <a:off x="301557" y="1755648"/>
            <a:ext cx="4922196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600" b="1" dirty="0"/>
              <a:t>Example Dataset</a:t>
            </a:r>
          </a:p>
          <a:p>
            <a:pPr algn="just">
              <a:buNone/>
            </a:pPr>
            <a:r>
              <a:rPr lang="en-US" sz="1600" dirty="0"/>
              <a:t>Suppose we collect data through Observation from Users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many clicks also have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     long mouse movement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     faster typing </a:t>
            </a:r>
          </a:p>
          <a:p>
            <a:pPr algn="just">
              <a:buNone/>
            </a:pPr>
            <a:r>
              <a:rPr lang="en-US" sz="1600" dirty="0"/>
              <a:t>The three variables are highly correlated.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56787E-F491-8AD9-B044-3864F9CA2D5A}"/>
              </a:ext>
            </a:extLst>
          </p:cNvPr>
          <p:cNvSpPr txBox="1"/>
          <p:nvPr/>
        </p:nvSpPr>
        <p:spPr>
          <a:xfrm>
            <a:off x="5383453" y="1755648"/>
            <a:ext cx="6808547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is a Principal Component?</a:t>
            </a:r>
          </a:p>
          <a:p>
            <a:pPr>
              <a:buNone/>
            </a:pPr>
            <a:r>
              <a:rPr lang="en-US" dirty="0"/>
              <a:t>A Principal Component is</a:t>
            </a:r>
          </a:p>
          <a:p>
            <a:pPr>
              <a:buNone/>
            </a:pPr>
            <a:r>
              <a:rPr lang="en-US" dirty="0"/>
              <a:t>	A new feature created by combining several original features.</a:t>
            </a:r>
          </a:p>
          <a:p>
            <a:pPr>
              <a:buNone/>
            </a:pPr>
            <a:r>
              <a:rPr lang="en-US" dirty="0"/>
              <a:t>		Example</a:t>
            </a:r>
          </a:p>
          <a:p>
            <a:pPr>
              <a:buNone/>
            </a:pPr>
            <a:r>
              <a:rPr lang="en-US" dirty="0"/>
              <a:t>			Original features</a:t>
            </a:r>
          </a:p>
          <a:p>
            <a:pPr lvl="7">
              <a:buFont typeface="Arial" panose="020B0604020202020204" pitchFamily="34" charset="0"/>
              <a:buChar char="•"/>
            </a:pPr>
            <a:r>
              <a:rPr lang="en-US" dirty="0"/>
              <a:t>Mouse clicks </a:t>
            </a:r>
          </a:p>
          <a:p>
            <a:pPr lvl="7">
              <a:buFont typeface="Arial" panose="020B0604020202020204" pitchFamily="34" charset="0"/>
              <a:buChar char="•"/>
            </a:pPr>
            <a:r>
              <a:rPr lang="en-US" dirty="0"/>
              <a:t>Mouse distance </a:t>
            </a:r>
          </a:p>
          <a:p>
            <a:pPr lvl="7">
              <a:buFont typeface="Arial" panose="020B0604020202020204" pitchFamily="34" charset="0"/>
              <a:buChar char="•"/>
            </a:pPr>
            <a:r>
              <a:rPr lang="en-US" dirty="0"/>
              <a:t>Typing speed </a:t>
            </a:r>
          </a:p>
          <a:p>
            <a:pPr>
              <a:buNone/>
            </a:pPr>
            <a:r>
              <a:rPr lang="en-US" dirty="0"/>
              <a:t>				↓</a:t>
            </a:r>
          </a:p>
          <a:p>
            <a:pPr marL="3486150" lvl="7" indent="-285750">
              <a:buFont typeface="Arial" panose="020B0604020202020204" pitchFamily="34" charset="0"/>
              <a:buChar char="•"/>
            </a:pPr>
            <a:r>
              <a:rPr lang="en-US" dirty="0"/>
              <a:t>Principal Component</a:t>
            </a:r>
          </a:p>
          <a:p>
            <a:pPr algn="ctr">
              <a:buNone/>
            </a:pPr>
            <a:endParaRPr lang="en-US" b="1" dirty="0"/>
          </a:p>
          <a:p>
            <a:pPr algn="ctr">
              <a:buNone/>
            </a:pPr>
            <a:r>
              <a:rPr lang="en-US" b="1" dirty="0"/>
              <a:t>Interaction Intensity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8471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E3FB4-1CFA-FB03-3C77-705FEC341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2D89CCB-3A64-840F-8B20-1C6695E4289E}"/>
              </a:ext>
            </a:extLst>
          </p:cNvPr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QUALITATIVE DATA RIGOROUS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C0CD0EE-31B9-17AE-2EAD-5003A9104450}"/>
              </a:ext>
            </a:extLst>
          </p:cNvPr>
          <p:cNvSpPr/>
          <p:nvPr/>
        </p:nvSpPr>
        <p:spPr>
          <a:xfrm>
            <a:off x="50292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Component Analysis (PCA) for User </a:t>
            </a:r>
            <a:r>
              <a:rPr lang="en-US" sz="2800" b="1" dirty="0" err="1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</a:t>
            </a:r>
            <a:r>
              <a:rPr lang="en-US" sz="28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Analysis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444A154-6EF9-B4E7-B5F3-BC01421CCD88}"/>
              </a:ext>
            </a:extLst>
          </p:cNvPr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3A4D6C-F503-E746-BC7F-A8EE03202FB7}"/>
              </a:ext>
            </a:extLst>
          </p:cNvPr>
          <p:cNvSpPr txBox="1"/>
          <p:nvPr/>
        </p:nvSpPr>
        <p:spPr>
          <a:xfrm>
            <a:off x="3635226" y="2136338"/>
            <a:ext cx="4651512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Another example</a:t>
            </a:r>
          </a:p>
          <a:p>
            <a:pPr>
              <a:buNone/>
            </a:pPr>
            <a:r>
              <a:rPr lang="en-US" dirty="0"/>
              <a:t>	Original features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dirty="0"/>
              <a:t>Eye fixation duration 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dirty="0"/>
              <a:t>Blink rate 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dirty="0"/>
              <a:t>Pupil size </a:t>
            </a:r>
          </a:p>
          <a:p>
            <a:pPr>
              <a:buNone/>
            </a:pPr>
            <a:r>
              <a:rPr lang="en-US" dirty="0"/>
              <a:t>		↓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Principal Component</a:t>
            </a:r>
          </a:p>
          <a:p>
            <a:pPr>
              <a:buNone/>
            </a:pPr>
            <a:r>
              <a:rPr lang="en-US" b="1" dirty="0"/>
              <a:t>	</a:t>
            </a:r>
          </a:p>
          <a:p>
            <a:pPr>
              <a:buNone/>
            </a:pPr>
            <a:r>
              <a:rPr lang="en-US" b="1" dirty="0"/>
              <a:t>	Cognitive Workload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5396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634F0-2D8C-10CF-710A-80D1A7BFA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6D9BF9B-EDF5-FB98-69CF-29C11936C523}"/>
              </a:ext>
            </a:extLst>
          </p:cNvPr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QUALITATIVE DATA RIGOROUS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C148DCB-7214-6D88-29E9-2E1651DFA28A}"/>
              </a:ext>
            </a:extLst>
          </p:cNvPr>
          <p:cNvSpPr/>
          <p:nvPr/>
        </p:nvSpPr>
        <p:spPr>
          <a:xfrm>
            <a:off x="50292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Component Analysis (PCA) for User </a:t>
            </a:r>
            <a:r>
              <a:rPr lang="en-US" sz="2800" b="1" dirty="0" err="1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</a:t>
            </a:r>
            <a:r>
              <a:rPr lang="en-US" sz="28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Analysis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8CF301A-F51B-D6C1-865F-785C2A5BA404}"/>
              </a:ext>
            </a:extLst>
          </p:cNvPr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CF0FEAB-F0A2-62F2-7C08-3F10FDA3E4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2237726"/>
              </p:ext>
            </p:extLst>
          </p:nvPr>
        </p:nvGraphicFramePr>
        <p:xfrm>
          <a:off x="2184015" y="4032826"/>
          <a:ext cx="8229600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139683285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388495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Interpretation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88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PC1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Interaction Intensity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8376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PC2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Cognitive Workload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9198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PC3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Typing </a:t>
                      </a:r>
                      <a:r>
                        <a:rPr lang="en-US" dirty="0" err="1"/>
                        <a:t>Behaviour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367158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B18EDF2-FDB8-BB13-5BFD-FD1888483EB0}"/>
              </a:ext>
            </a:extLst>
          </p:cNvPr>
          <p:cNvSpPr txBox="1"/>
          <p:nvPr/>
        </p:nvSpPr>
        <p:spPr>
          <a:xfrm>
            <a:off x="2496766" y="2229325"/>
            <a:ext cx="7239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/>
              <a:t>Interpreting Principal Components</a:t>
            </a:r>
          </a:p>
          <a:p>
            <a:pPr algn="just">
              <a:buNone/>
            </a:pPr>
            <a:r>
              <a:rPr lang="en-US" dirty="0"/>
              <a:t>These names are assigned by the researcher after examining which original features contribute most to each component.</a:t>
            </a:r>
          </a:p>
        </p:txBody>
      </p:sp>
    </p:spTree>
    <p:extLst>
      <p:ext uri="{BB962C8B-B14F-4D97-AF65-F5344CB8AC3E}">
        <p14:creationId xmlns:p14="http://schemas.microsoft.com/office/powerpoint/2010/main" val="502359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7CE46-A7D0-B64A-D210-2B1A0C50C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37F7EB9-FE44-6FFE-7F33-FCC0992B8915}"/>
              </a:ext>
            </a:extLst>
          </p:cNvPr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QUALITATIVE DATA RIGOROUS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A1D549A-1823-D131-302A-83CA6C8A320F}"/>
              </a:ext>
            </a:extLst>
          </p:cNvPr>
          <p:cNvSpPr/>
          <p:nvPr/>
        </p:nvSpPr>
        <p:spPr>
          <a:xfrm>
            <a:off x="50292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Component Analysis (PCA) for User </a:t>
            </a:r>
            <a:r>
              <a:rPr lang="en-US" sz="2800" b="1" dirty="0" err="1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</a:t>
            </a:r>
            <a:r>
              <a:rPr lang="en-US" sz="28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Analysis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4C9E90CF-1ABD-13DA-EE97-F8D6F174FD33}"/>
              </a:ext>
            </a:extLst>
          </p:cNvPr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7809A9E-6C88-B488-D13C-C5ADC30B15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477908"/>
              </p:ext>
            </p:extLst>
          </p:nvPr>
        </p:nvGraphicFramePr>
        <p:xfrm>
          <a:off x="1981200" y="4127042"/>
          <a:ext cx="8229600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8775069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7942416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Information Explained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0082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PC1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92%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149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PC2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025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PC3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985869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C9DDE3C-4B5F-C22E-C5D1-42DE393C988E}"/>
              </a:ext>
            </a:extLst>
          </p:cNvPr>
          <p:cNvSpPr txBox="1"/>
          <p:nvPr/>
        </p:nvSpPr>
        <p:spPr>
          <a:xfrm>
            <a:off x="1293517" y="1961300"/>
            <a:ext cx="94750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/>
              <a:t>Variance Explained</a:t>
            </a:r>
          </a:p>
          <a:p>
            <a:pPr>
              <a:buNone/>
            </a:pPr>
            <a:r>
              <a:rPr lang="en-US" dirty="0"/>
              <a:t>Each Principal Component explains a certain amount of information.</a:t>
            </a:r>
          </a:p>
          <a:p>
            <a:pPr>
              <a:buNone/>
            </a:pPr>
            <a:r>
              <a:rPr lang="en-US" dirty="0"/>
              <a:t>	Example</a:t>
            </a:r>
          </a:p>
          <a:p>
            <a:pPr>
              <a:buNone/>
            </a:pPr>
            <a:r>
              <a:rPr lang="en-US" dirty="0"/>
              <a:t>		Interpretation</a:t>
            </a:r>
          </a:p>
          <a:p>
            <a:pPr>
              <a:buNone/>
            </a:pPr>
            <a:r>
              <a:rPr lang="en-US" dirty="0"/>
              <a:t>		Only PC1 is sufficient because it already explains most of the user </a:t>
            </a:r>
            <a:r>
              <a:rPr lang="en-US" dirty="0" err="1"/>
              <a:t>behaviour</a:t>
            </a:r>
            <a:r>
              <a:rPr lang="en-US" dirty="0"/>
              <a:t> !!!</a:t>
            </a:r>
          </a:p>
        </p:txBody>
      </p:sp>
    </p:spTree>
    <p:extLst>
      <p:ext uri="{BB962C8B-B14F-4D97-AF65-F5344CB8AC3E}">
        <p14:creationId xmlns:p14="http://schemas.microsoft.com/office/powerpoint/2010/main" val="37303640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1DE7D-C67D-F53C-2239-9C2FA1DD6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1CE72B-1615-CB35-9EC4-F07AD5E1EDE5}"/>
              </a:ext>
            </a:extLst>
          </p:cNvPr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QUALITATIVE DATA RIGOROUS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70C8D7D-939A-3FEF-88C3-CC749C8F50F6}"/>
              </a:ext>
            </a:extLst>
          </p:cNvPr>
          <p:cNvSpPr/>
          <p:nvPr/>
        </p:nvSpPr>
        <p:spPr>
          <a:xfrm>
            <a:off x="50292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Component Analysis (PCA) for User </a:t>
            </a:r>
            <a:r>
              <a:rPr lang="en-US" sz="2800" b="1" dirty="0" err="1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</a:t>
            </a:r>
            <a:r>
              <a:rPr lang="en-US" sz="28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Analysis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84D3AB6-A10C-0EA6-D959-A34CFD71BC8A}"/>
              </a:ext>
            </a:extLst>
          </p:cNvPr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560101-B4CF-52A6-872D-186E36240CB8}"/>
              </a:ext>
            </a:extLst>
          </p:cNvPr>
          <p:cNvSpPr txBox="1"/>
          <p:nvPr/>
        </p:nvSpPr>
        <p:spPr>
          <a:xfrm>
            <a:off x="1217734" y="1622915"/>
            <a:ext cx="883920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dirty="0">
                <a:latin typeface="Arial" pitchFamily="34" charset="0"/>
                <a:cs typeface="Arial" pitchFamily="34" charset="0"/>
              </a:rPr>
              <a:t>Step 1. User </a:t>
            </a:r>
            <a:r>
              <a:rPr lang="en-US" sz="2300" dirty="0" err="1">
                <a:latin typeface="Arial" pitchFamily="34" charset="0"/>
                <a:cs typeface="Arial" pitchFamily="34" charset="0"/>
              </a:rPr>
              <a:t>Behaviour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6D761EE-F965-C265-9B5A-6BFE48755C7A}"/>
                  </a:ext>
                </a:extLst>
              </p:cNvPr>
              <p:cNvSpPr txBox="1"/>
              <p:nvPr/>
            </p:nvSpPr>
            <p:spPr>
              <a:xfrm>
                <a:off x="2825885" y="2173623"/>
                <a:ext cx="5867400" cy="41597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/>
                  <a:t>Suppose we observe four users.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220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35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240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37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610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70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28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590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72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r>
                  <a:rPr lang="en-US" dirty="0"/>
                  <a:t>Columns: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dirty="0"/>
                  <a:t>Mouse clicks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dirty="0"/>
                  <a:t>Mouse distance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dirty="0"/>
                  <a:t>Typing speed 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dirty="0"/>
                  <a:t>Rows are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User 1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User 2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User 3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User 4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6D761EE-F965-C265-9B5A-6BFE48755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5885" y="2173623"/>
                <a:ext cx="5867400" cy="4159793"/>
              </a:xfrm>
              <a:prstGeom prst="rect">
                <a:avLst/>
              </a:prstGeom>
              <a:blipFill>
                <a:blip r:embed="rId3"/>
                <a:stretch>
                  <a:fillRect l="-936" t="-880" b="-14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79549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2B0CE-B05E-0E83-F949-E263482BC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6E20B4D-142F-57EC-3CCD-E2CA82E08914}"/>
              </a:ext>
            </a:extLst>
          </p:cNvPr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QUALITATIVE DATA RIGOROUS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A21B4EC-17B0-060F-D19A-78296FCCEC22}"/>
              </a:ext>
            </a:extLst>
          </p:cNvPr>
          <p:cNvSpPr/>
          <p:nvPr/>
        </p:nvSpPr>
        <p:spPr>
          <a:xfrm>
            <a:off x="50292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Component Analysis (PCA) for User </a:t>
            </a:r>
            <a:r>
              <a:rPr lang="en-US" sz="2800" b="1" dirty="0" err="1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</a:t>
            </a:r>
            <a:r>
              <a:rPr lang="en-US" sz="28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Analysis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AFEB75C-1AE1-0D69-7F9C-0E8D34204F40}"/>
              </a:ext>
            </a:extLst>
          </p:cNvPr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1C3F6A-1175-9C30-8BE9-6F73B0D58FC6}"/>
              </a:ext>
            </a:extLst>
          </p:cNvPr>
          <p:cNvSpPr txBox="1"/>
          <p:nvPr/>
        </p:nvSpPr>
        <p:spPr>
          <a:xfrm>
            <a:off x="1721789" y="2233373"/>
            <a:ext cx="883920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dirty="0">
                <a:latin typeface="Arial" pitchFamily="34" charset="0"/>
                <a:cs typeface="Arial" pitchFamily="34" charset="0"/>
              </a:rPr>
              <a:t>Step 2. Standardize the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EC966F5-3178-B159-CA1F-275CE0B29F2A}"/>
                  </a:ext>
                </a:extLst>
              </p:cNvPr>
              <p:cNvSpPr txBox="1"/>
              <p:nvPr/>
            </p:nvSpPr>
            <p:spPr>
              <a:xfrm>
                <a:off x="1805940" y="3163721"/>
                <a:ext cx="8458200" cy="2505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Solution: Standardization</a:t>
                </a:r>
              </a:p>
              <a:p>
                <a:pPr>
                  <a:buNone/>
                </a:pPr>
                <a:r>
                  <a:rPr lang="en-US" dirty="0"/>
                  <a:t>For each feature, compute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r>
                  <a:rPr lang="en-US" dirty="0"/>
                  <a:t>where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= original value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= mean of that feature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= standard deviation of that feature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= standardized value (also called a </a:t>
                </a:r>
                <a:r>
                  <a:rPr lang="en-US" b="1" dirty="0"/>
                  <a:t>z-score</a:t>
                </a:r>
                <a:r>
                  <a:rPr lang="en-US" dirty="0"/>
                  <a:t>)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EC966F5-3178-B159-CA1F-275CE0B29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5940" y="3163721"/>
                <a:ext cx="8458200" cy="2505751"/>
              </a:xfrm>
              <a:prstGeom prst="rect">
                <a:avLst/>
              </a:prstGeom>
              <a:blipFill>
                <a:blip r:embed="rId3"/>
                <a:stretch>
                  <a:fillRect l="-576" t="-1460" b="-29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35354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561A6-155E-7FD2-EC8E-D36A1A24A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484E102-A055-C03D-8A5D-ADE56BF10DD2}"/>
              </a:ext>
            </a:extLst>
          </p:cNvPr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QUALITATIVE DATA RIGOROUS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23BC93B-54EF-2D8E-2423-EB961168743A}"/>
              </a:ext>
            </a:extLst>
          </p:cNvPr>
          <p:cNvSpPr/>
          <p:nvPr/>
        </p:nvSpPr>
        <p:spPr>
          <a:xfrm>
            <a:off x="50292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Component Analysis (PCA) for User </a:t>
            </a:r>
            <a:r>
              <a:rPr lang="en-US" sz="2800" b="1" dirty="0" err="1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</a:t>
            </a:r>
            <a:r>
              <a:rPr lang="en-US" sz="28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Analysis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2E93AD8-1ECF-B4CF-8EF4-753F80C5DDC7}"/>
              </a:ext>
            </a:extLst>
          </p:cNvPr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C261A2-A416-052A-605A-425BC2D9C0CE}"/>
                  </a:ext>
                </a:extLst>
              </p:cNvPr>
              <p:cNvSpPr txBox="1"/>
              <p:nvPr/>
            </p:nvSpPr>
            <p:spPr>
              <a:xfrm>
                <a:off x="1790700" y="1859084"/>
                <a:ext cx="8610600" cy="41639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400" b="1" dirty="0"/>
                  <a:t>Example</a:t>
                </a:r>
              </a:p>
              <a:p>
                <a:pPr>
                  <a:buNone/>
                </a:pPr>
                <a:r>
                  <a:rPr lang="en-US" sz="1400" dirty="0"/>
                  <a:t>Let's standardize </a:t>
                </a:r>
                <a:r>
                  <a:rPr lang="en-US" sz="1400" b="1" dirty="0"/>
                  <a:t>Mouse Clicks</a:t>
                </a:r>
                <a:r>
                  <a:rPr lang="en-US" sz="1400" dirty="0"/>
                  <a:t>.</a:t>
                </a:r>
              </a:p>
              <a:p>
                <a:pPr>
                  <a:buNone/>
                </a:pPr>
                <a:r>
                  <a:rPr lang="en-US" sz="1400" dirty="0"/>
                  <a:t>Original values: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40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14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400" b="0" i="0">
                          <a:latin typeface="Cambria Math" panose="02040503050406030204" pitchFamily="18" charset="0"/>
                        </a:rPr>
                        <m:t>  </m:t>
                      </m:r>
                      <m:r>
                        <a:rPr lang="en-US" sz="1400" b="0" i="0">
                          <a:latin typeface="Cambria Math" panose="02040503050406030204" pitchFamily="18" charset="0"/>
                        </a:rPr>
                        <m:t>12,</m:t>
                      </m:r>
                      <m:r>
                        <m:rPr>
                          <m:nor/>
                        </m:rPr>
                        <a:rPr lang="en-US" sz="1400" b="0" i="0">
                          <a:latin typeface="Cambria Math" panose="02040503050406030204" pitchFamily="18" charset="0"/>
                        </a:rPr>
                        <m:t>  </m:t>
                      </m:r>
                      <m:r>
                        <a:rPr lang="en-US" sz="1400" b="0" i="0">
                          <a:latin typeface="Cambria Math" panose="02040503050406030204" pitchFamily="18" charset="0"/>
                        </a:rPr>
                        <m:t>30,</m:t>
                      </m:r>
                      <m:r>
                        <m:rPr>
                          <m:nor/>
                        </m:rPr>
                        <a:rPr lang="en-US" sz="1400" b="0" i="0">
                          <a:latin typeface="Cambria Math" panose="02040503050406030204" pitchFamily="18" charset="0"/>
                        </a:rPr>
                        <m:t>  </m:t>
                      </m:r>
                      <m:r>
                        <a:rPr lang="en-US" sz="1400" b="0" i="0">
                          <a:latin typeface="Cambria Math" panose="02040503050406030204" pitchFamily="18" charset="0"/>
                        </a:rPr>
                        <m:t>28</m:t>
                      </m:r>
                    </m:oMath>
                  </m:oMathPara>
                </a14:m>
                <a:endParaRPr lang="en-US" sz="1400" b="0" dirty="0"/>
              </a:p>
              <a:p>
                <a:pPr>
                  <a:buNone/>
                </a:pPr>
                <a:r>
                  <a:rPr lang="en-US" sz="1400" b="1" dirty="0"/>
                  <a:t>Step 1: Compute the Mean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4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10+12+30+28</m:t>
                          </m:r>
                        </m:num>
                        <m:den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1400" i="0"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en-US" sz="1400" dirty="0"/>
              </a:p>
              <a:p>
                <a:pPr>
                  <a:buNone/>
                </a:pPr>
                <a:br>
                  <a:rPr lang="en-US" sz="1400" dirty="0"/>
                </a:br>
                <a:endParaRPr lang="en-US" sz="1400" dirty="0"/>
              </a:p>
              <a:p>
                <a:pPr>
                  <a:buNone/>
                </a:pPr>
                <a:r>
                  <a:rPr lang="en-US" sz="1400" b="1" dirty="0"/>
                  <a:t>Step 2: Compute the Standard Deviation</a:t>
                </a:r>
              </a:p>
              <a:p>
                <a:pPr>
                  <a:buNone/>
                </a:pPr>
                <a:r>
                  <a:rPr lang="en-US" sz="1400" dirty="0"/>
                  <a:t>Using the sample standard deviation,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4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1400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10−20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12−20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30−20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28−20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14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400" i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100+64+100+64</m:t>
                              </m:r>
                            </m:num>
                            <m:den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14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109.33</m:t>
                          </m:r>
                        </m:e>
                      </m:rad>
                    </m:oMath>
                  </m:oMathPara>
                </a14:m>
                <a:endParaRPr lang="en-US" sz="14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0">
                          <a:latin typeface="Cambria Math" panose="02040503050406030204" pitchFamily="18" charset="0"/>
                        </a:rPr>
                        <m:t>10.46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C261A2-A416-052A-605A-425BC2D9C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700" y="1859084"/>
                <a:ext cx="8610600" cy="4163960"/>
              </a:xfrm>
              <a:prstGeom prst="rect">
                <a:avLst/>
              </a:prstGeom>
              <a:blipFill>
                <a:blip r:embed="rId3"/>
                <a:stretch>
                  <a:fillRect l="-212" t="-2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62366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203BE-1B1A-256C-5CA5-65BE7F397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B92C330-C18D-335E-574B-0766870500F7}"/>
              </a:ext>
            </a:extLst>
          </p:cNvPr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QUALITATIVE DATA RIGOROUS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4BEF1D-9E29-15E2-063E-85652C04D397}"/>
              </a:ext>
            </a:extLst>
          </p:cNvPr>
          <p:cNvSpPr/>
          <p:nvPr/>
        </p:nvSpPr>
        <p:spPr>
          <a:xfrm>
            <a:off x="50292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Component Analysis (PCA) for User </a:t>
            </a:r>
            <a:r>
              <a:rPr lang="en-US" sz="2800" b="1" dirty="0" err="1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</a:t>
            </a:r>
            <a:r>
              <a:rPr lang="en-US" sz="28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Analysis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CEA339D-F67D-570D-F96A-732DAFFB7E02}"/>
              </a:ext>
            </a:extLst>
          </p:cNvPr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994A72-957E-BDE9-9FAB-D083327008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4182862"/>
              </p:ext>
            </p:extLst>
          </p:nvPr>
        </p:nvGraphicFramePr>
        <p:xfrm>
          <a:off x="1981200" y="4381288"/>
          <a:ext cx="8229600" cy="1371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71738772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65624892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7738374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Original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Standardized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243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U1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-0.956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764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U2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-0.765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6171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U3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0.956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0002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U4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0.765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592524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9697670-15BF-130E-CC50-3E6BB8A7F883}"/>
                  </a:ext>
                </a:extLst>
              </p:cNvPr>
              <p:cNvSpPr txBox="1"/>
              <p:nvPr/>
            </p:nvSpPr>
            <p:spPr>
              <a:xfrm>
                <a:off x="1628530" y="1726429"/>
                <a:ext cx="8763000" cy="258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200" b="1" dirty="0"/>
                  <a:t>Step 3: Standardize Each Value</a:t>
                </a:r>
              </a:p>
              <a:p>
                <a:pPr>
                  <a:buNone/>
                </a:pPr>
                <a:r>
                  <a:rPr lang="en-US" sz="1200" dirty="0"/>
                  <a:t>For User 1: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2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10−20</m:t>
                          </m:r>
                        </m:num>
                        <m:den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10.46</m:t>
                          </m:r>
                        </m:den>
                      </m:f>
                      <m:r>
                        <a:rPr lang="en-US" sz="1200" i="0">
                          <a:latin typeface="Cambria Math" panose="02040503050406030204" pitchFamily="18" charset="0"/>
                        </a:rPr>
                        <m:t>=−0.956</m:t>
                      </m:r>
                    </m:oMath>
                  </m:oMathPara>
                </a14:m>
                <a:endParaRPr lang="en-US" sz="1200" dirty="0"/>
              </a:p>
              <a:p>
                <a:pPr>
                  <a:buNone/>
                </a:pPr>
                <a:r>
                  <a:rPr lang="en-US" sz="1200" dirty="0"/>
                  <a:t>For User 2: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2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12−20</m:t>
                          </m:r>
                        </m:num>
                        <m:den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10.46</m:t>
                          </m:r>
                        </m:den>
                      </m:f>
                      <m:r>
                        <a:rPr lang="en-US" sz="1200" i="0">
                          <a:latin typeface="Cambria Math" panose="02040503050406030204" pitchFamily="18" charset="0"/>
                        </a:rPr>
                        <m:t>=−0.765</m:t>
                      </m:r>
                    </m:oMath>
                  </m:oMathPara>
                </a14:m>
                <a:endParaRPr lang="en-US" sz="1200" dirty="0"/>
              </a:p>
              <a:p>
                <a:pPr>
                  <a:buNone/>
                </a:pPr>
                <a:r>
                  <a:rPr lang="en-US" sz="1200" dirty="0"/>
                  <a:t>For User 3: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2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30−20</m:t>
                          </m:r>
                        </m:num>
                        <m:den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10.46</m:t>
                          </m:r>
                        </m:den>
                      </m:f>
                      <m:r>
                        <a:rPr lang="en-US" sz="1200" i="0">
                          <a:latin typeface="Cambria Math" panose="02040503050406030204" pitchFamily="18" charset="0"/>
                        </a:rPr>
                        <m:t>=0.956</m:t>
                      </m:r>
                    </m:oMath>
                  </m:oMathPara>
                </a14:m>
                <a:endParaRPr lang="en-US" sz="1200" dirty="0"/>
              </a:p>
              <a:p>
                <a:pPr>
                  <a:buNone/>
                </a:pPr>
                <a:r>
                  <a:rPr lang="en-US" sz="1200" dirty="0"/>
                  <a:t>For User 4: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2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28−20</m:t>
                          </m:r>
                        </m:num>
                        <m:den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10.46</m:t>
                          </m:r>
                        </m:den>
                      </m:f>
                      <m:r>
                        <a:rPr lang="en-US" sz="1200" i="0">
                          <a:latin typeface="Cambria Math" panose="02040503050406030204" pitchFamily="18" charset="0"/>
                        </a:rPr>
                        <m:t>=0.765</m:t>
                      </m:r>
                    </m:oMath>
                  </m:oMathPara>
                </a14:m>
                <a:endParaRPr lang="en-US" sz="1200" dirty="0"/>
              </a:p>
              <a:p>
                <a:pPr>
                  <a:buNone/>
                </a:pPr>
                <a:r>
                  <a:rPr lang="en-US" sz="1200" dirty="0"/>
                  <a:t>So the standardized Clicks column becomes: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9697670-15BF-130E-CC50-3E6BB8A7F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530" y="1726429"/>
                <a:ext cx="8763000" cy="2587888"/>
              </a:xfrm>
              <a:prstGeom prst="rect">
                <a:avLst/>
              </a:prstGeom>
              <a:blipFill>
                <a:blip r:embed="rId3"/>
                <a:stretch>
                  <a:fillRect b="-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27861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78AC1-0647-0455-5454-269A18CFD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728CC77-8A2A-A2BE-BA27-0A2CEE97A43B}"/>
              </a:ext>
            </a:extLst>
          </p:cNvPr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QUALITATIVE DATA RIGOROUS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7892891-E20F-8E9D-A2F9-F483E51E584A}"/>
              </a:ext>
            </a:extLst>
          </p:cNvPr>
          <p:cNvSpPr/>
          <p:nvPr/>
        </p:nvSpPr>
        <p:spPr>
          <a:xfrm>
            <a:off x="50292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Component Analysis (PCA) for User </a:t>
            </a:r>
            <a:r>
              <a:rPr lang="en-US" sz="2800" b="1" dirty="0" err="1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</a:t>
            </a:r>
            <a:r>
              <a:rPr lang="en-US" sz="28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Analysis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6256FA17-2A39-B3DE-507D-B54C0D144CF6}"/>
              </a:ext>
            </a:extLst>
          </p:cNvPr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84ADE56-B07E-98B3-54D9-A946E94E7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365711"/>
              </p:ext>
            </p:extLst>
          </p:nvPr>
        </p:nvGraphicFramePr>
        <p:xfrm>
          <a:off x="1752600" y="3646033"/>
          <a:ext cx="822960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739381934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27259597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401967706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7947858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Clicks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Distance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Typing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8539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U1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-0.96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-0.92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-0.94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5597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U2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-0.77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-0.82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-0.82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780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U3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0.90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2647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U4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0.77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0.77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0.86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19704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0F7F803-07DA-BB9F-8B5D-5018C01A500D}"/>
              </a:ext>
            </a:extLst>
          </p:cNvPr>
          <p:cNvSpPr txBox="1"/>
          <p:nvPr/>
        </p:nvSpPr>
        <p:spPr>
          <a:xfrm>
            <a:off x="1219200" y="2151774"/>
            <a:ext cx="8686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600" b="1" dirty="0"/>
              <a:t>Repeat for Every Feature</a:t>
            </a:r>
          </a:p>
          <a:p>
            <a:pPr algn="just">
              <a:buNone/>
            </a:pPr>
            <a:r>
              <a:rPr lang="en-US" sz="1600" dirty="0"/>
              <a:t>Need to do the same for Mouse Distance and Typing Speed.</a:t>
            </a:r>
          </a:p>
          <a:p>
            <a:pPr algn="just">
              <a:buNone/>
            </a:pPr>
            <a:r>
              <a:rPr lang="en-US" sz="1600" dirty="0"/>
              <a:t>The standardized data matrix might look like this:</a:t>
            </a:r>
          </a:p>
          <a:p>
            <a:pPr algn="just">
              <a:buNone/>
            </a:pPr>
            <a:r>
              <a:rPr lang="en-US" sz="1600" dirty="0"/>
              <a:t>       Notice that the values are now all on a similar scale, making the features directly comparable.</a:t>
            </a:r>
          </a:p>
        </p:txBody>
      </p:sp>
    </p:spTree>
    <p:extLst>
      <p:ext uri="{BB962C8B-B14F-4D97-AF65-F5344CB8AC3E}">
        <p14:creationId xmlns:p14="http://schemas.microsoft.com/office/powerpoint/2010/main" val="40532450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2F034-9AEA-4557-952D-4EF87AD57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2612012-EB9D-70A6-48F5-83E606E02118}"/>
              </a:ext>
            </a:extLst>
          </p:cNvPr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QUALITATIVE DATA RIGOROUS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6376388-0311-B255-111A-3090BCAF2F7F}"/>
              </a:ext>
            </a:extLst>
          </p:cNvPr>
          <p:cNvSpPr/>
          <p:nvPr/>
        </p:nvSpPr>
        <p:spPr>
          <a:xfrm>
            <a:off x="50292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Component Analysis (PCA) for User </a:t>
            </a:r>
            <a:r>
              <a:rPr lang="en-US" sz="2800" b="1" dirty="0" err="1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</a:t>
            </a:r>
            <a:r>
              <a:rPr lang="en-US" sz="28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Analysis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826861C-8F4B-2693-485A-AF19F24B0630}"/>
              </a:ext>
            </a:extLst>
          </p:cNvPr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3E11CC-B1C9-F42F-6446-4716DA855F1E}"/>
              </a:ext>
            </a:extLst>
          </p:cNvPr>
          <p:cNvSpPr txBox="1"/>
          <p:nvPr/>
        </p:nvSpPr>
        <p:spPr>
          <a:xfrm>
            <a:off x="358303" y="1967013"/>
            <a:ext cx="4651512" cy="33733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b="1" dirty="0"/>
              <a:t>Why PCA is Useful in HCI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Removes redundant features.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Simplifies large datasets.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Makes visualization easier.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Speeds up machine learning algorithms.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Reduces noise.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Helps identify hidden </a:t>
            </a:r>
            <a:r>
              <a:rPr lang="en-US" dirty="0" err="1"/>
              <a:t>behavioural</a:t>
            </a:r>
            <a:r>
              <a:rPr lang="en-US" dirty="0"/>
              <a:t> patterns.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Improves clustering and classification accuracy.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E2C1E7-9C3F-DFA9-B008-8DF0F18E2998}"/>
              </a:ext>
            </a:extLst>
          </p:cNvPr>
          <p:cNvSpPr txBox="1"/>
          <p:nvPr/>
        </p:nvSpPr>
        <p:spPr>
          <a:xfrm>
            <a:off x="5257800" y="2484039"/>
            <a:ext cx="6934200" cy="21268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b="1" dirty="0"/>
              <a:t>Limitations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Principal Components are not always easy to interpret.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PCA assumes linear relationships among variables.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Results depend on proper feature scaling (standardization).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Important information may be lost if too few components are retained.</a:t>
            </a:r>
          </a:p>
        </p:txBody>
      </p:sp>
    </p:spTree>
    <p:extLst>
      <p:ext uri="{BB962C8B-B14F-4D97-AF65-F5344CB8AC3E}">
        <p14:creationId xmlns:p14="http://schemas.microsoft.com/office/powerpoint/2010/main" val="1024740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1968</Words>
  <Application>Microsoft Office PowerPoint</Application>
  <PresentationFormat>Widescreen</PresentationFormat>
  <Paragraphs>468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Cambria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cyber range</cp:lastModifiedBy>
  <cp:revision>42</cp:revision>
  <dcterms:created xsi:type="dcterms:W3CDTF">2026-08-14T03:24:56Z</dcterms:created>
  <dcterms:modified xsi:type="dcterms:W3CDTF">2026-08-24T14:31:05Z</dcterms:modified>
</cp:coreProperties>
</file>