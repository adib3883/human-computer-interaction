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99" r:id="rId2"/>
    <p:sldId id="300" r:id="rId3"/>
    <p:sldId id="297" r:id="rId4"/>
    <p:sldId id="257" r:id="rId5"/>
    <p:sldId id="275" r:id="rId6"/>
    <p:sldId id="301" r:id="rId7"/>
    <p:sldId id="292" r:id="rId8"/>
    <p:sldId id="302" r:id="rId9"/>
    <p:sldId id="280" r:id="rId10"/>
    <p:sldId id="279" r:id="rId11"/>
    <p:sldId id="295" r:id="rId12"/>
    <p:sldId id="303" r:id="rId13"/>
    <p:sldId id="278" r:id="rId14"/>
    <p:sldId id="304" r:id="rId15"/>
    <p:sldId id="281" r:id="rId16"/>
    <p:sldId id="305" r:id="rId17"/>
    <p:sldId id="306" r:id="rId18"/>
    <p:sldId id="307" r:id="rId19"/>
    <p:sldId id="308" r:id="rId20"/>
    <p:sldId id="309" r:id="rId21"/>
    <p:sldId id="283" r:id="rId22"/>
    <p:sldId id="284" r:id="rId23"/>
    <p:sldId id="310" r:id="rId24"/>
    <p:sldId id="311" r:id="rId25"/>
    <p:sldId id="313" r:id="rId26"/>
    <p:sldId id="314" r:id="rId27"/>
    <p:sldId id="288" r:id="rId28"/>
    <p:sldId id="315" r:id="rId2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6"/>
    <p:restoredTop sz="90929"/>
  </p:normalViewPr>
  <p:slideViewPr>
    <p:cSldViewPr>
      <p:cViewPr varScale="1">
        <p:scale>
          <a:sx n="112" d="100"/>
          <a:sy n="112" d="100"/>
        </p:scale>
        <p:origin x="14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1E60-724C-D716-FAE2-0F499A972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12B0A-3D80-43E2-8EE2-96173AA4F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B36E6-657B-76B9-B2F3-0B68CE83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7858-6845-A68E-59FF-ED650789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30E4-98EF-4CCF-A60E-6145A0F2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FF5DDF-226C-104A-A16A-6E6461C845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394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99DA-44A7-3F40-3668-B6270C3D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D626-8CDE-C8D2-7E00-03F9288AA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F2688-82E7-56D6-40BD-6CA9763F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FC150-DDA4-79E6-A2A8-7B280F8C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105A-D836-E112-B818-F92AE781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60C65-2403-B04A-ADC9-4350CFB23F5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066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3328-F197-1106-35FE-BABCEB1C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E89C7-51AC-668C-F09A-A7A99C238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645C-2023-CAA3-D658-4832DF9E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196C9-F0F4-3460-FAA3-A74D41BB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C611-CD15-5079-F2B0-12A26C52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B6E80-A71A-BE41-AFED-324C970C407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266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F52A-F01F-7777-413C-9D0FE469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F59D-4B58-2715-2184-B530C0BA9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94914-F189-A8BB-EBB9-6CE178C92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535C0-0D6F-BA00-C602-9F1B10F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9F5F5-D3AD-216D-CB60-0392601C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FC7D0-02BD-D040-5486-5BA3799C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596AF-ED15-ED4E-AD2F-86159B768F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1810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BD88-BC61-4288-79F4-6B93E5D6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76B14-D1E0-9183-CCBD-A16871356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2BAD2-0289-AFA4-6116-85AF111D5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E4F53-A54C-D407-6C98-07B8957B4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13B37-E8F8-9FA7-F80C-A3EDC4A7F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D55C3-4A5D-32B2-DF3D-D7446FFC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E7136-B01E-D564-595E-AEF141BB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128F9-DB0C-099B-5427-0842DD35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9BD71F-48C8-224E-909D-F64DD06FF7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333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3A50-21B3-A654-69F2-62BC0E8A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2778E-F150-A198-8C12-0C5F24FD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CD171-03BF-62CC-5E4B-DBBD07D9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567E8-E70D-D6F3-9D7F-28861020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53A1D-830C-014F-910E-B3AE163C232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2132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94A15-E093-279A-CA00-EA5D4EA9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7B924-F6C3-6CC6-6E2C-D833707D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88BEC-30F7-9492-EA5A-70D5AF1D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77DC7-D327-4D40-8677-F81223FA016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804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BB52-6F11-8BFC-7CA7-10301D9D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E363-C005-267F-5B0A-0C95C852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478D5-2E14-0393-4C8F-251BF4B89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531F-3AF9-91B6-87F5-14A31AC65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C24E3-970E-7FCF-CAED-695E8F83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A6E2C-EDAC-B7E6-5248-0EDA8ACA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4A3979-3041-9B4A-A83C-FCCCA67482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604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0222-1A44-BA73-5B7C-9B7F7651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9E5CA-5A61-2EE7-6F0C-880F1E1AF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AE9B9-7FB2-CC8B-FCB0-AC088C82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C8C18-FAC8-08F5-8D31-FA0725DD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551D1-C362-B255-DFFC-DA61383E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0F230-9DF9-CF06-BF21-CA76A5C3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72A6B-E8CA-8B4F-BF43-34B5AC5364A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157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59A3-88CD-777F-A22F-2DD46248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26862-51B4-14F3-C015-315823181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43E6-A6A9-0371-862C-9EF4DFBC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BE5BB-C918-B907-B1A2-63828E71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E41ED-8656-253B-E7EE-941EB87F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1C5E5-934C-1941-B4EE-189D9BA8B3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5599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4AAB3-6F0F-4E05-A823-5A5FDC572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56D1E-9D46-3FA2-4485-9800C9C7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19547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25BD-DCB9-55F7-F2EA-0B096785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F3B0A-DF87-684E-391E-AA2379D5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A2200-CC0E-F8DF-1AEC-23672E61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ABEE5-417B-574F-A79B-1008E77248E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210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>
            <a:extLst>
              <a:ext uri="{FF2B5EF4-FFF2-40B4-BE49-F238E27FC236}">
                <a16:creationId xmlns:a16="http://schemas.microsoft.com/office/drawing/2014/main" id="{19BCDA1E-2779-A03F-8EDA-1CA181F9D4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88" y="1066800"/>
            <a:ext cx="8731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D3B652D3-9C81-3837-D8EE-B0981C450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2EBED8-AF31-2B1C-2F79-D1CFE141C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7AB214-8B00-B1A5-22EF-01714AE5FB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AB4DE1-1865-AC1C-E905-018D4EDB09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0F4EAD-6E6C-E4FF-7C6B-2FEE4E5CF8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01BEAA-6F69-CF43-AC13-37604FF5790B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43" name="Group 19">
            <a:extLst>
              <a:ext uri="{FF2B5EF4-FFF2-40B4-BE49-F238E27FC236}">
                <a16:creationId xmlns:a16="http://schemas.microsoft.com/office/drawing/2014/main" id="{903B624A-E0D5-E2B1-2C30-F2B9640CB8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042" name="Rectangle 18">
              <a:extLst>
                <a:ext uri="{FF2B5EF4-FFF2-40B4-BE49-F238E27FC236}">
                  <a16:creationId xmlns:a16="http://schemas.microsoft.com/office/drawing/2014/main" id="{95230D0A-9BAA-1DF1-ED8F-6909C1973B5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2" y="52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4EAF8BCF-FE45-3159-BD6B-04531F9D392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872" y="192"/>
              <a:ext cx="29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3ACB35F8-9DD6-328B-8413-09B9B539CE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3AD4D5DA-2FA7-FC59-D137-DFE8EAB395F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5E8FB3C9-DCD7-A758-FEF7-CF60AD11EB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FE8A-19EE-CFFE-AE95-7D04A21E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DD2423-4A0C-7BCB-25FF-86C43AE00BC2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CF2A3-7841-987B-A519-440750FA3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566805"/>
            <a:ext cx="8261226" cy="572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4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8E90-E87E-889A-1D14-D98C8FEE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BAC20B-FD25-0554-D914-0A6796888481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B5E47-76B2-62BF-F249-3F83786F7DF9}"/>
              </a:ext>
            </a:extLst>
          </p:cNvPr>
          <p:cNvSpPr txBox="1"/>
          <p:nvPr/>
        </p:nvSpPr>
        <p:spPr>
          <a:xfrm>
            <a:off x="1835696" y="2598003"/>
            <a:ext cx="6244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Is this a software bug or an HCI problem</a:t>
            </a:r>
          </a:p>
          <a:p>
            <a:pPr algn="ctr"/>
            <a:r>
              <a:rPr lang="en-US" b="1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59710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7E35-1054-0F8C-DF8D-5CB729CB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C1138C3-703D-8903-E08F-D79ECD1A03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6629400" cy="1219200"/>
          </a:xfrm>
        </p:spPr>
        <p:txBody>
          <a:bodyPr anchor="ctr"/>
          <a:lstStyle/>
          <a:p>
            <a:pPr>
              <a:spcAft>
                <a:spcPct val="30000"/>
              </a:spcAft>
            </a:pPr>
            <a:r>
              <a:rPr lang="en-GB" altLang="en-US" sz="4000">
                <a:solidFill>
                  <a:srgbClr val="2E005D"/>
                </a:solidFill>
                <a:latin typeface="Verdana" panose="020B0604030504040204" pitchFamily="34" charset="0"/>
              </a:rPr>
              <a:t>chapter 6</a:t>
            </a:r>
            <a:endParaRPr lang="en-GB" altLang="en-US" sz="4000">
              <a:solidFill>
                <a:srgbClr val="2E005D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A1BCF08-287D-50FB-D6B2-0F9C8CA177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2286000"/>
          </a:xfrm>
        </p:spPr>
        <p:txBody>
          <a:bodyPr/>
          <a:lstStyle/>
          <a:p>
            <a:r>
              <a:rPr lang="en-GB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HCI in the software process</a:t>
            </a:r>
          </a:p>
        </p:txBody>
      </p:sp>
      <p:grpSp>
        <p:nvGrpSpPr>
          <p:cNvPr id="20484" name="Group 4">
            <a:extLst>
              <a:ext uri="{FF2B5EF4-FFF2-40B4-BE49-F238E27FC236}">
                <a16:creationId xmlns:a16="http://schemas.microsoft.com/office/drawing/2014/main" id="{4AB71C1D-4C4B-DD26-5A59-D8C2C31D7FB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485" name="Rectangle 5">
              <a:extLst>
                <a:ext uri="{FF2B5EF4-FFF2-40B4-BE49-F238E27FC236}">
                  <a16:creationId xmlns:a16="http://schemas.microsoft.com/office/drawing/2014/main" id="{4B3C4777-B74F-1898-E544-5DA30898C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528"/>
              <a:ext cx="624" cy="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6" name="Rectangle 6">
              <a:extLst>
                <a:ext uri="{FF2B5EF4-FFF2-40B4-BE49-F238E27FC236}">
                  <a16:creationId xmlns:a16="http://schemas.microsoft.com/office/drawing/2014/main" id="{E0D9270B-3D5A-6558-9EFA-146165F26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w="9525">
              <a:solidFill>
                <a:srgbClr val="2E005D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0487" name="Picture 7">
              <a:extLst>
                <a:ext uri="{FF2B5EF4-FFF2-40B4-BE49-F238E27FC236}">
                  <a16:creationId xmlns:a16="http://schemas.microsoft.com/office/drawing/2014/main" id="{F55F1C21-C8AF-964A-AAF2-8ACBA9465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8" name="Picture 8">
              <a:extLst>
                <a:ext uri="{FF2B5EF4-FFF2-40B4-BE49-F238E27FC236}">
                  <a16:creationId xmlns:a16="http://schemas.microsoft.com/office/drawing/2014/main" id="{8F516B87-90D4-436B-F2A5-3CC0D4BF7B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9" name="Picture 9">
              <a:extLst>
                <a:ext uri="{FF2B5EF4-FFF2-40B4-BE49-F238E27FC236}">
                  <a16:creationId xmlns:a16="http://schemas.microsoft.com/office/drawing/2014/main" id="{0E1A15C5-A0FA-A285-166B-2D4B98D990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90" name="Picture 10">
              <a:extLst>
                <a:ext uri="{FF2B5EF4-FFF2-40B4-BE49-F238E27FC236}">
                  <a16:creationId xmlns:a16="http://schemas.microsoft.com/office/drawing/2014/main" id="{45DDB7CF-58BB-97F3-49D1-E7036325A2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91" name="Picture 11">
              <a:extLst>
                <a:ext uri="{FF2B5EF4-FFF2-40B4-BE49-F238E27FC236}">
                  <a16:creationId xmlns:a16="http://schemas.microsoft.com/office/drawing/2014/main" id="{758303EE-2CA3-458D-1A18-327E69CF2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522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97C0E9C-0082-B837-075D-5E0110CDC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cs typeface="Times New Roman" panose="02020603050405020304" pitchFamily="18" charset="0"/>
              </a:rPr>
              <a:t>HCI in the software process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E5FF034-D705-75E6-1683-180F190E4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80000"/>
              </a:spcBef>
            </a:pPr>
            <a:r>
              <a:rPr lang="en-US" altLang="en-US" sz="2400">
                <a:cs typeface="Times New Roman" panose="02020603050405020304" pitchFamily="18" charset="0"/>
              </a:rPr>
              <a:t>Software engineering and the design process for interactive systems</a:t>
            </a:r>
            <a:endParaRPr lang="en-GB" altLang="en-US" sz="2400">
              <a:cs typeface="Times New Roman" panose="02020603050405020304" pitchFamily="18" charset="0"/>
            </a:endParaRPr>
          </a:p>
          <a:p>
            <a:pPr>
              <a:spcBef>
                <a:spcPct val="80000"/>
              </a:spcBef>
            </a:pPr>
            <a:r>
              <a:rPr lang="en-US" altLang="en-US" sz="2400">
                <a:cs typeface="Times New Roman" panose="02020603050405020304" pitchFamily="18" charset="0"/>
              </a:rPr>
              <a:t>Usability engineering</a:t>
            </a:r>
            <a:endParaRPr lang="en-GB" altLang="en-US" sz="2400">
              <a:cs typeface="Times New Roman" panose="02020603050405020304" pitchFamily="18" charset="0"/>
            </a:endParaRPr>
          </a:p>
          <a:p>
            <a:pPr>
              <a:spcBef>
                <a:spcPct val="80000"/>
              </a:spcBef>
            </a:pPr>
            <a:r>
              <a:rPr lang="en-US" altLang="en-US" sz="2400">
                <a:cs typeface="Times New Roman" panose="02020603050405020304" pitchFamily="18" charset="0"/>
              </a:rPr>
              <a:t>Iterative design and prototyping</a:t>
            </a:r>
            <a:endParaRPr lang="en-GB" altLang="en-US" sz="2400">
              <a:cs typeface="Times New Roman" panose="02020603050405020304" pitchFamily="18" charset="0"/>
            </a:endParaRPr>
          </a:p>
          <a:p>
            <a:pPr>
              <a:spcBef>
                <a:spcPct val="80000"/>
              </a:spcBef>
            </a:pPr>
            <a:r>
              <a:rPr lang="en-US" altLang="en-US" sz="2400">
                <a:cs typeface="Times New Roman" panose="02020603050405020304" pitchFamily="18" charset="0"/>
              </a:rPr>
              <a:t>Design rationale</a:t>
            </a: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3223D5C-B73C-F344-B35D-6A04D711B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software lifecycle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02CCFAE-C2B1-0FD5-D0F5-B035D48C0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sz="2400"/>
          </a:p>
          <a:p>
            <a:r>
              <a:rPr lang="en-GB" altLang="en-US" sz="2400"/>
              <a:t>Software engineering is the discipline for understanding the software design process, or life cycle</a:t>
            </a:r>
          </a:p>
          <a:p>
            <a:endParaRPr lang="en-GB" altLang="en-US" sz="2400"/>
          </a:p>
          <a:p>
            <a:r>
              <a:rPr lang="en-GB" altLang="en-US" sz="2400"/>
              <a:t>Designing for usability occurs at all stages of the life cycle, not as a single isolated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AEF3-BC55-D48D-79F0-A9EB8A5B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CECBD2-E5E4-A23A-2E4D-D34CAF7A5E53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BEAA1-98D3-034B-52F8-6E916FC9C62E}"/>
              </a:ext>
            </a:extLst>
          </p:cNvPr>
          <p:cNvSpPr txBox="1"/>
          <p:nvPr/>
        </p:nvSpPr>
        <p:spPr>
          <a:xfrm>
            <a:off x="1835696" y="2598003"/>
            <a:ext cx="6244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Expectation From a Food Delivery App</a:t>
            </a:r>
          </a:p>
          <a:p>
            <a:pPr algn="ctr"/>
            <a:r>
              <a:rPr lang="en-US" b="1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8937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C24F4DF-E4FF-A3A4-7060-5577EC3F0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waterfall model</a:t>
            </a:r>
          </a:p>
        </p:txBody>
      </p:sp>
      <p:grpSp>
        <p:nvGrpSpPr>
          <p:cNvPr id="40963" name="Group 3">
            <a:extLst>
              <a:ext uri="{FF2B5EF4-FFF2-40B4-BE49-F238E27FC236}">
                <a16:creationId xmlns:a16="http://schemas.microsoft.com/office/drawing/2014/main" id="{7D3B1F56-2BA6-77AE-08A1-B4D7C3157DA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81200"/>
            <a:ext cx="5867400" cy="4343400"/>
            <a:chOff x="576" y="1152"/>
            <a:chExt cx="3696" cy="2736"/>
          </a:xfrm>
        </p:grpSpPr>
        <p:sp>
          <p:nvSpPr>
            <p:cNvPr id="40964" name="Rectangle 4">
              <a:extLst>
                <a:ext uri="{FF2B5EF4-FFF2-40B4-BE49-F238E27FC236}">
                  <a16:creationId xmlns:a16="http://schemas.microsoft.com/office/drawing/2014/main" id="{EA2DAAD1-840D-5C3B-24E0-38663DF4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15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Requirements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specification</a:t>
              </a:r>
              <a:endParaRPr lang="en-GB" altLang="en-US"/>
            </a:p>
          </p:txBody>
        </p:sp>
        <p:sp>
          <p:nvSpPr>
            <p:cNvPr id="40965" name="Rectangle 5">
              <a:extLst>
                <a:ext uri="{FF2B5EF4-FFF2-40B4-BE49-F238E27FC236}">
                  <a16:creationId xmlns:a16="http://schemas.microsoft.com/office/drawing/2014/main" id="{68AFBF8C-5582-74FC-5F95-079487ED9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3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Architectural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design</a:t>
              </a:r>
              <a:endParaRPr lang="en-GB" altLang="en-US"/>
            </a:p>
          </p:txBody>
        </p:sp>
        <p:sp>
          <p:nvSpPr>
            <p:cNvPr id="40966" name="Rectangle 6">
              <a:extLst>
                <a:ext uri="{FF2B5EF4-FFF2-40B4-BE49-F238E27FC236}">
                  <a16:creationId xmlns:a16="http://schemas.microsoft.com/office/drawing/2014/main" id="{6DA157FD-23CB-17B9-323C-62F7B3366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11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Detailed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design</a:t>
              </a:r>
              <a:endParaRPr lang="en-GB" altLang="en-US"/>
            </a:p>
          </p:txBody>
        </p:sp>
        <p:sp>
          <p:nvSpPr>
            <p:cNvPr id="40967" name="Rectangle 7">
              <a:extLst>
                <a:ext uri="{FF2B5EF4-FFF2-40B4-BE49-F238E27FC236}">
                  <a16:creationId xmlns:a16="http://schemas.microsoft.com/office/drawing/2014/main" id="{9AD103ED-59DD-7CA3-60B9-9ECD8BFE1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9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Coding and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unit testing</a:t>
              </a:r>
              <a:endParaRPr lang="en-GB" altLang="en-US"/>
            </a:p>
          </p:txBody>
        </p:sp>
        <p:sp>
          <p:nvSpPr>
            <p:cNvPr id="40968" name="Rectangle 8">
              <a:extLst>
                <a:ext uri="{FF2B5EF4-FFF2-40B4-BE49-F238E27FC236}">
                  <a16:creationId xmlns:a16="http://schemas.microsoft.com/office/drawing/2014/main" id="{0B9A0F28-7E91-79A0-3E7B-3054B2DC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7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Integration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and testing</a:t>
              </a:r>
              <a:endParaRPr lang="en-GB" altLang="en-US"/>
            </a:p>
          </p:txBody>
        </p:sp>
        <p:sp>
          <p:nvSpPr>
            <p:cNvPr id="40969" name="Rectangle 9">
              <a:extLst>
                <a:ext uri="{FF2B5EF4-FFF2-40B4-BE49-F238E27FC236}">
                  <a16:creationId xmlns:a16="http://schemas.microsoft.com/office/drawing/2014/main" id="{C455A4FD-4782-4618-61BA-47809C232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552"/>
              <a:ext cx="816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Operation and</a:t>
              </a:r>
              <a:br>
                <a:rPr lang="en-GB" altLang="en-US" sz="12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maintenance</a:t>
              </a:r>
              <a:endParaRPr lang="en-GB" altLang="en-US"/>
            </a:p>
          </p:txBody>
        </p:sp>
        <p:cxnSp>
          <p:nvCxnSpPr>
            <p:cNvPr id="40970" name="AutoShape 10">
              <a:extLst>
                <a:ext uri="{FF2B5EF4-FFF2-40B4-BE49-F238E27FC236}">
                  <a16:creationId xmlns:a16="http://schemas.microsoft.com/office/drawing/2014/main" id="{7FB87429-0964-10F0-1DFB-C4D529996E53}"/>
                </a:ext>
              </a:extLst>
            </p:cNvPr>
            <p:cNvCxnSpPr>
              <a:cxnSpLocks noChangeShapeType="1"/>
              <a:stCxn id="40964" idx="3"/>
              <a:endCxn id="40965" idx="0"/>
            </p:cNvCxnSpPr>
            <p:nvPr/>
          </p:nvCxnSpPr>
          <p:spPr bwMode="auto">
            <a:xfrm>
              <a:off x="1392" y="1320"/>
              <a:ext cx="168" cy="31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1" name="AutoShape 11">
              <a:extLst>
                <a:ext uri="{FF2B5EF4-FFF2-40B4-BE49-F238E27FC236}">
                  <a16:creationId xmlns:a16="http://schemas.microsoft.com/office/drawing/2014/main" id="{E141CA3C-E06C-CC2E-2BCA-EDE07B6A395D}"/>
                </a:ext>
              </a:extLst>
            </p:cNvPr>
            <p:cNvCxnSpPr>
              <a:cxnSpLocks noChangeShapeType="1"/>
              <a:stCxn id="40965" idx="3"/>
              <a:endCxn id="40966" idx="0"/>
            </p:cNvCxnSpPr>
            <p:nvPr/>
          </p:nvCxnSpPr>
          <p:spPr bwMode="auto">
            <a:xfrm>
              <a:off x="1968" y="1800"/>
              <a:ext cx="168" cy="31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2" name="AutoShape 12">
              <a:extLst>
                <a:ext uri="{FF2B5EF4-FFF2-40B4-BE49-F238E27FC236}">
                  <a16:creationId xmlns:a16="http://schemas.microsoft.com/office/drawing/2014/main" id="{5ED741E5-08D4-192F-9DDC-0925F51E1E76}"/>
                </a:ext>
              </a:extLst>
            </p:cNvPr>
            <p:cNvCxnSpPr>
              <a:cxnSpLocks noChangeShapeType="1"/>
              <a:stCxn id="40966" idx="3"/>
              <a:endCxn id="40967" idx="0"/>
            </p:cNvCxnSpPr>
            <p:nvPr/>
          </p:nvCxnSpPr>
          <p:spPr bwMode="auto">
            <a:xfrm>
              <a:off x="2544" y="2280"/>
              <a:ext cx="168" cy="31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3" name="AutoShape 13">
              <a:extLst>
                <a:ext uri="{FF2B5EF4-FFF2-40B4-BE49-F238E27FC236}">
                  <a16:creationId xmlns:a16="http://schemas.microsoft.com/office/drawing/2014/main" id="{B4F8A359-5DA0-5E21-9EDB-7371418FAB6C}"/>
                </a:ext>
              </a:extLst>
            </p:cNvPr>
            <p:cNvCxnSpPr>
              <a:cxnSpLocks noChangeShapeType="1"/>
              <a:stCxn id="40967" idx="3"/>
              <a:endCxn id="40968" idx="0"/>
            </p:cNvCxnSpPr>
            <p:nvPr/>
          </p:nvCxnSpPr>
          <p:spPr bwMode="auto">
            <a:xfrm>
              <a:off x="3120" y="2760"/>
              <a:ext cx="168" cy="31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4" name="AutoShape 14">
              <a:extLst>
                <a:ext uri="{FF2B5EF4-FFF2-40B4-BE49-F238E27FC236}">
                  <a16:creationId xmlns:a16="http://schemas.microsoft.com/office/drawing/2014/main" id="{FE29BDE6-4BBF-1419-8E86-4968D18E8C1B}"/>
                </a:ext>
              </a:extLst>
            </p:cNvPr>
            <p:cNvCxnSpPr>
              <a:cxnSpLocks noChangeShapeType="1"/>
              <a:stCxn id="40968" idx="3"/>
              <a:endCxn id="40969" idx="0"/>
            </p:cNvCxnSpPr>
            <p:nvPr/>
          </p:nvCxnSpPr>
          <p:spPr bwMode="auto">
            <a:xfrm>
              <a:off x="3696" y="3240"/>
              <a:ext cx="168" cy="312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12D8-7D1F-CB14-C583-B8BFEA8A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03EFB5-A9DD-CC56-F2F6-2455E2DDD19F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F05C3C-F444-C612-4F5A-73C86BD04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016879"/>
              </p:ext>
            </p:extLst>
          </p:nvPr>
        </p:nvGraphicFramePr>
        <p:xfrm>
          <a:off x="827584" y="1844824"/>
          <a:ext cx="77724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77642374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96391677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152136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Developers Think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Users Think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0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Everything is clear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Nobody asked me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29635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Looks beautiful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Can't use it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2024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perfectly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Doesn't solve my problem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9665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bugs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frustrating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489642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F3A99B9-1D76-19A1-58AC-4C23B27E5568}"/>
              </a:ext>
            </a:extLst>
          </p:cNvPr>
          <p:cNvSpPr txBox="1"/>
          <p:nvPr/>
        </p:nvSpPr>
        <p:spPr>
          <a:xfrm>
            <a:off x="1475656" y="4725144"/>
            <a:ext cx="6336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Software can be bug-free but still unusable !!!!</a:t>
            </a:r>
          </a:p>
        </p:txBody>
      </p:sp>
    </p:spTree>
    <p:extLst>
      <p:ext uri="{BB962C8B-B14F-4D97-AF65-F5344CB8AC3E}">
        <p14:creationId xmlns:p14="http://schemas.microsoft.com/office/powerpoint/2010/main" val="226047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50F2E9E-CEEB-1986-0CD8-38DE3BFBA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Usability engineering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F489B73-720D-1B83-4E3D-7D2D01D3F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The ultimate test of usability based on measurement of user experience</a:t>
            </a:r>
          </a:p>
          <a:p>
            <a:pPr>
              <a:lnSpc>
                <a:spcPct val="90000"/>
              </a:lnSpc>
            </a:pPr>
            <a:endParaRPr lang="en-GB" altLang="en-US" sz="9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Usability engineering demands that specific usability measures be made explicit as requirements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2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Usability specification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usability attribute/principle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measuring concept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measuring method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now level/ worst case/ planned level/ best case</a:t>
            </a:r>
          </a:p>
          <a:p>
            <a:pPr>
              <a:lnSpc>
                <a:spcPct val="90000"/>
              </a:lnSpc>
            </a:pPr>
            <a:endParaRPr lang="en-GB" altLang="en-US" sz="9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Problems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usability specification requires level of detail that may not be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altLang="en-US" sz="1600" dirty="0"/>
              <a:t>possible early in design satisfying a usability specification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does not necessarily satisfy usability</a:t>
            </a:r>
          </a:p>
          <a:p>
            <a:pPr>
              <a:lnSpc>
                <a:spcPct val="90000"/>
              </a:lnSpc>
            </a:pPr>
            <a:endParaRPr lang="en-GB" alt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CECE5C9-302F-8D81-348A-F7CDFF106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life cycle for interactive systems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02D9E07-AE72-7148-B67F-BD2E8B22B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r">
              <a:buFontTx/>
              <a:buNone/>
            </a:pPr>
            <a:r>
              <a:rPr lang="en-GB" altLang="en-US" sz="2400"/>
              <a:t>cannot assume a linear</a:t>
            </a:r>
            <a:br>
              <a:rPr lang="en-GB" altLang="en-US" sz="2400"/>
            </a:br>
            <a:r>
              <a:rPr lang="en-GB" altLang="en-US" sz="2400"/>
              <a:t>sequence of activities</a:t>
            </a:r>
            <a:br>
              <a:rPr lang="en-GB" altLang="en-US" sz="2400"/>
            </a:br>
            <a:r>
              <a:rPr lang="en-GB" altLang="en-US" sz="2400"/>
              <a:t>as in the waterfall model</a:t>
            </a:r>
          </a:p>
          <a:p>
            <a:pPr algn="r">
              <a:buFontTx/>
              <a:buNone/>
            </a:pPr>
            <a:endParaRPr lang="en-GB" altLang="en-US" sz="2400"/>
          </a:p>
          <a:p>
            <a:pPr algn="r">
              <a:buFontTx/>
              <a:buNone/>
            </a:pPr>
            <a:endParaRPr lang="en-GB" altLang="en-US" sz="2400"/>
          </a:p>
          <a:p>
            <a:pPr algn="r">
              <a:buFontTx/>
              <a:buNone/>
            </a:pPr>
            <a:endParaRPr lang="en-GB" altLang="en-US" sz="2400"/>
          </a:p>
          <a:p>
            <a:pPr algn="r">
              <a:buFontTx/>
              <a:buNone/>
            </a:pPr>
            <a:endParaRPr lang="en-GB" altLang="en-US" sz="2400"/>
          </a:p>
          <a:p>
            <a:pPr algn="r">
              <a:buFontTx/>
              <a:buNone/>
            </a:pPr>
            <a:endParaRPr lang="en-GB" altLang="en-US" sz="2400"/>
          </a:p>
          <a:p>
            <a:pPr>
              <a:buFontTx/>
              <a:buNone/>
            </a:pPr>
            <a:r>
              <a:rPr lang="en-GB" altLang="en-US" sz="2400"/>
              <a:t>lots of feedback!</a:t>
            </a:r>
          </a:p>
        </p:txBody>
      </p:sp>
      <p:grpSp>
        <p:nvGrpSpPr>
          <p:cNvPr id="25617" name="Group 17">
            <a:extLst>
              <a:ext uri="{FF2B5EF4-FFF2-40B4-BE49-F238E27FC236}">
                <a16:creationId xmlns:a16="http://schemas.microsoft.com/office/drawing/2014/main" id="{26AA366E-E082-2F60-0CEF-0CA47D2D1F7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133600"/>
            <a:ext cx="5867400" cy="4343400"/>
            <a:chOff x="576" y="1104"/>
            <a:chExt cx="3696" cy="2736"/>
          </a:xfrm>
        </p:grpSpPr>
        <p:grpSp>
          <p:nvGrpSpPr>
            <p:cNvPr id="25618" name="Group 18">
              <a:extLst>
                <a:ext uri="{FF2B5EF4-FFF2-40B4-BE49-F238E27FC236}">
                  <a16:creationId xmlns:a16="http://schemas.microsoft.com/office/drawing/2014/main" id="{5559FC02-CAE5-7FA2-2CD1-1FBAAC7C6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296"/>
              <a:ext cx="2544" cy="2064"/>
              <a:chOff x="1392" y="1296"/>
              <a:chExt cx="2544" cy="2064"/>
            </a:xfrm>
          </p:grpSpPr>
          <p:sp>
            <p:nvSpPr>
              <p:cNvPr id="25619" name="Rectangle 19">
                <a:extLst>
                  <a:ext uri="{FF2B5EF4-FFF2-40B4-BE49-F238E27FC236}">
                    <a16:creationId xmlns:a16="http://schemas.microsoft.com/office/drawing/2014/main" id="{70648C89-636F-1D38-D5D6-5039D52AC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736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620" name="Rectangle 20">
                <a:extLst>
                  <a:ext uri="{FF2B5EF4-FFF2-40B4-BE49-F238E27FC236}">
                    <a16:creationId xmlns:a16="http://schemas.microsoft.com/office/drawing/2014/main" id="{8DB2FC48-DD1B-EA0F-311F-80C589084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216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cxnSp>
            <p:nvCxnSpPr>
              <p:cNvPr id="25621" name="AutoShape 21">
                <a:extLst>
                  <a:ext uri="{FF2B5EF4-FFF2-40B4-BE49-F238E27FC236}">
                    <a16:creationId xmlns:a16="http://schemas.microsoft.com/office/drawing/2014/main" id="{68BDFAE0-F522-1FF1-EA96-69275199AD79}"/>
                  </a:ext>
                </a:extLst>
              </p:cNvPr>
              <p:cNvCxnSpPr>
                <a:cxnSpLocks noChangeShapeType="1"/>
                <a:stCxn id="25620" idx="1"/>
                <a:endCxn id="25619" idx="2"/>
              </p:cNvCxnSpPr>
              <p:nvPr/>
            </p:nvCxnSpPr>
            <p:spPr bwMode="auto">
              <a:xfrm rot="10800000">
                <a:off x="3240" y="2880"/>
                <a:ext cx="456" cy="40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22" name="AutoShape 22">
                <a:extLst>
                  <a:ext uri="{FF2B5EF4-FFF2-40B4-BE49-F238E27FC236}">
                    <a16:creationId xmlns:a16="http://schemas.microsoft.com/office/drawing/2014/main" id="{46FD4770-E841-2837-9B4E-98C771C6CF59}"/>
                  </a:ext>
                </a:extLst>
              </p:cNvPr>
              <p:cNvCxnSpPr>
                <a:cxnSpLocks noChangeShapeType="1"/>
                <a:stCxn id="25620" idx="1"/>
                <a:endCxn id="25623" idx="2"/>
              </p:cNvCxnSpPr>
              <p:nvPr/>
            </p:nvCxnSpPr>
            <p:spPr bwMode="auto">
              <a:xfrm rot="10800000">
                <a:off x="2664" y="2400"/>
                <a:ext cx="1032" cy="88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623" name="Rectangle 23">
                <a:extLst>
                  <a:ext uri="{FF2B5EF4-FFF2-40B4-BE49-F238E27FC236}">
                    <a16:creationId xmlns:a16="http://schemas.microsoft.com/office/drawing/2014/main" id="{C60CD798-CA4C-CC61-13D8-21B09092B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256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624" name="Rectangle 24">
                <a:extLst>
                  <a:ext uri="{FF2B5EF4-FFF2-40B4-BE49-F238E27FC236}">
                    <a16:creationId xmlns:a16="http://schemas.microsoft.com/office/drawing/2014/main" id="{8D6962D9-395B-8421-43DD-28389A036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776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625" name="Rectangle 25">
                <a:extLst>
                  <a:ext uri="{FF2B5EF4-FFF2-40B4-BE49-F238E27FC236}">
                    <a16:creationId xmlns:a16="http://schemas.microsoft.com/office/drawing/2014/main" id="{F93D6886-E0C7-8F87-F831-FD6008025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296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cxnSp>
            <p:nvCxnSpPr>
              <p:cNvPr id="25626" name="AutoShape 26">
                <a:extLst>
                  <a:ext uri="{FF2B5EF4-FFF2-40B4-BE49-F238E27FC236}">
                    <a16:creationId xmlns:a16="http://schemas.microsoft.com/office/drawing/2014/main" id="{C2CCDD03-5329-7FFA-FCD2-13709C147CB9}"/>
                  </a:ext>
                </a:extLst>
              </p:cNvPr>
              <p:cNvCxnSpPr>
                <a:cxnSpLocks noChangeShapeType="1"/>
                <a:stCxn id="25620" idx="1"/>
                <a:endCxn id="25624" idx="2"/>
              </p:cNvCxnSpPr>
              <p:nvPr/>
            </p:nvCxnSpPr>
            <p:spPr bwMode="auto">
              <a:xfrm rot="10800000">
                <a:off x="2088" y="1920"/>
                <a:ext cx="1608" cy="136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27" name="AutoShape 27">
                <a:extLst>
                  <a:ext uri="{FF2B5EF4-FFF2-40B4-BE49-F238E27FC236}">
                    <a16:creationId xmlns:a16="http://schemas.microsoft.com/office/drawing/2014/main" id="{FF3F909C-429F-F2CA-DF3F-CDA41AE9CC41}"/>
                  </a:ext>
                </a:extLst>
              </p:cNvPr>
              <p:cNvCxnSpPr>
                <a:cxnSpLocks noChangeShapeType="1"/>
                <a:stCxn id="25619" idx="1"/>
                <a:endCxn id="25623" idx="2"/>
              </p:cNvCxnSpPr>
              <p:nvPr/>
            </p:nvCxnSpPr>
            <p:spPr bwMode="auto">
              <a:xfrm rot="10800000">
                <a:off x="2664" y="2400"/>
                <a:ext cx="456" cy="40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28" name="AutoShape 28">
                <a:extLst>
                  <a:ext uri="{FF2B5EF4-FFF2-40B4-BE49-F238E27FC236}">
                    <a16:creationId xmlns:a16="http://schemas.microsoft.com/office/drawing/2014/main" id="{E1C225C9-118D-CB1B-DADC-B7B4286D969A}"/>
                  </a:ext>
                </a:extLst>
              </p:cNvPr>
              <p:cNvCxnSpPr>
                <a:cxnSpLocks noChangeShapeType="1"/>
                <a:stCxn id="25619" idx="1"/>
                <a:endCxn id="25624" idx="2"/>
              </p:cNvCxnSpPr>
              <p:nvPr/>
            </p:nvCxnSpPr>
            <p:spPr bwMode="auto">
              <a:xfrm rot="10800000">
                <a:off x="2088" y="1920"/>
                <a:ext cx="1032" cy="88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29" name="AutoShape 29">
                <a:extLst>
                  <a:ext uri="{FF2B5EF4-FFF2-40B4-BE49-F238E27FC236}">
                    <a16:creationId xmlns:a16="http://schemas.microsoft.com/office/drawing/2014/main" id="{4A084960-B5C5-F5D5-AB1F-B2DDB5CC3587}"/>
                  </a:ext>
                </a:extLst>
              </p:cNvPr>
              <p:cNvCxnSpPr>
                <a:cxnSpLocks noChangeShapeType="1"/>
                <a:stCxn id="25619" idx="1"/>
                <a:endCxn id="25625" idx="2"/>
              </p:cNvCxnSpPr>
              <p:nvPr/>
            </p:nvCxnSpPr>
            <p:spPr bwMode="auto">
              <a:xfrm rot="10800000">
                <a:off x="1512" y="1440"/>
                <a:ext cx="1608" cy="136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30" name="AutoShape 30">
                <a:extLst>
                  <a:ext uri="{FF2B5EF4-FFF2-40B4-BE49-F238E27FC236}">
                    <a16:creationId xmlns:a16="http://schemas.microsoft.com/office/drawing/2014/main" id="{35DCE456-406A-3DE2-58A1-3F84C3BDF091}"/>
                  </a:ext>
                </a:extLst>
              </p:cNvPr>
              <p:cNvCxnSpPr>
                <a:cxnSpLocks noChangeShapeType="1"/>
                <a:stCxn id="25620" idx="1"/>
                <a:endCxn id="25625" idx="2"/>
              </p:cNvCxnSpPr>
              <p:nvPr/>
            </p:nvCxnSpPr>
            <p:spPr bwMode="auto">
              <a:xfrm rot="10800000">
                <a:off x="1512" y="1440"/>
                <a:ext cx="2184" cy="184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31" name="AutoShape 31">
                <a:extLst>
                  <a:ext uri="{FF2B5EF4-FFF2-40B4-BE49-F238E27FC236}">
                    <a16:creationId xmlns:a16="http://schemas.microsoft.com/office/drawing/2014/main" id="{E798D556-5921-1595-A20F-E7F5C8CF9045}"/>
                  </a:ext>
                </a:extLst>
              </p:cNvPr>
              <p:cNvCxnSpPr>
                <a:cxnSpLocks noChangeShapeType="1"/>
                <a:stCxn id="25623" idx="1"/>
                <a:endCxn id="25624" idx="2"/>
              </p:cNvCxnSpPr>
              <p:nvPr/>
            </p:nvCxnSpPr>
            <p:spPr bwMode="auto">
              <a:xfrm rot="10800000">
                <a:off x="2088" y="1920"/>
                <a:ext cx="456" cy="40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32" name="AutoShape 32">
                <a:extLst>
                  <a:ext uri="{FF2B5EF4-FFF2-40B4-BE49-F238E27FC236}">
                    <a16:creationId xmlns:a16="http://schemas.microsoft.com/office/drawing/2014/main" id="{053DCFA6-748A-EDC5-5185-F97452C45551}"/>
                  </a:ext>
                </a:extLst>
              </p:cNvPr>
              <p:cNvCxnSpPr>
                <a:cxnSpLocks noChangeShapeType="1"/>
                <a:stCxn id="25623" idx="1"/>
                <a:endCxn id="25625" idx="2"/>
              </p:cNvCxnSpPr>
              <p:nvPr/>
            </p:nvCxnSpPr>
            <p:spPr bwMode="auto">
              <a:xfrm rot="10800000">
                <a:off x="1512" y="1440"/>
                <a:ext cx="1032" cy="88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33" name="AutoShape 33">
                <a:extLst>
                  <a:ext uri="{FF2B5EF4-FFF2-40B4-BE49-F238E27FC236}">
                    <a16:creationId xmlns:a16="http://schemas.microsoft.com/office/drawing/2014/main" id="{9574C4AC-66EA-5CC8-3D94-2BA736A3AC82}"/>
                  </a:ext>
                </a:extLst>
              </p:cNvPr>
              <p:cNvCxnSpPr>
                <a:cxnSpLocks noChangeShapeType="1"/>
                <a:stCxn id="25624" idx="1"/>
                <a:endCxn id="25625" idx="2"/>
              </p:cNvCxnSpPr>
              <p:nvPr/>
            </p:nvCxnSpPr>
            <p:spPr bwMode="auto">
              <a:xfrm rot="10800000">
                <a:off x="1512" y="1440"/>
                <a:ext cx="456" cy="408"/>
              </a:xfrm>
              <a:prstGeom prst="curvedConnector2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5634" name="Group 34">
              <a:extLst>
                <a:ext uri="{FF2B5EF4-FFF2-40B4-BE49-F238E27FC236}">
                  <a16:creationId xmlns:a16="http://schemas.microsoft.com/office/drawing/2014/main" id="{E9BF4663-EA74-9FE6-7D4D-90525099A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104"/>
              <a:ext cx="3696" cy="2736"/>
              <a:chOff x="576" y="1152"/>
              <a:chExt cx="3696" cy="2736"/>
            </a:xfrm>
          </p:grpSpPr>
          <p:sp>
            <p:nvSpPr>
              <p:cNvPr id="25635" name="Rectangle 35">
                <a:extLst>
                  <a:ext uri="{FF2B5EF4-FFF2-40B4-BE49-F238E27FC236}">
                    <a16:creationId xmlns:a16="http://schemas.microsoft.com/office/drawing/2014/main" id="{7401519C-9668-2140-C5A5-D1381F9EA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15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Requirements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specification</a:t>
                </a:r>
                <a:endParaRPr lang="en-GB" altLang="en-US"/>
              </a:p>
            </p:txBody>
          </p:sp>
          <p:sp>
            <p:nvSpPr>
              <p:cNvPr id="25636" name="Rectangle 36">
                <a:extLst>
                  <a:ext uri="{FF2B5EF4-FFF2-40B4-BE49-F238E27FC236}">
                    <a16:creationId xmlns:a16="http://schemas.microsoft.com/office/drawing/2014/main" id="{08D89070-BB63-4F4C-34C7-1F39B5257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3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Architectural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design</a:t>
                </a:r>
                <a:endParaRPr lang="en-GB" altLang="en-US"/>
              </a:p>
            </p:txBody>
          </p:sp>
          <p:sp>
            <p:nvSpPr>
              <p:cNvPr id="25637" name="Rectangle 37">
                <a:extLst>
                  <a:ext uri="{FF2B5EF4-FFF2-40B4-BE49-F238E27FC236}">
                    <a16:creationId xmlns:a16="http://schemas.microsoft.com/office/drawing/2014/main" id="{6538047A-A074-CF1A-4545-1DEBC1759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11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Detailed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design</a:t>
                </a:r>
                <a:endParaRPr lang="en-GB" altLang="en-US"/>
              </a:p>
            </p:txBody>
          </p:sp>
          <p:sp>
            <p:nvSpPr>
              <p:cNvPr id="25638" name="Rectangle 38">
                <a:extLst>
                  <a:ext uri="{FF2B5EF4-FFF2-40B4-BE49-F238E27FC236}">
                    <a16:creationId xmlns:a16="http://schemas.microsoft.com/office/drawing/2014/main" id="{CEF8F5AE-4EC8-3C79-5585-3040E7636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Coding and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unit testing</a:t>
                </a:r>
                <a:endParaRPr lang="en-GB" altLang="en-US"/>
              </a:p>
            </p:txBody>
          </p:sp>
          <p:sp>
            <p:nvSpPr>
              <p:cNvPr id="25639" name="Rectangle 39">
                <a:extLst>
                  <a:ext uri="{FF2B5EF4-FFF2-40B4-BE49-F238E27FC236}">
                    <a16:creationId xmlns:a16="http://schemas.microsoft.com/office/drawing/2014/main" id="{47AD5C64-F8C6-7A1A-1A42-E63C9DAAC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07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Integration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and testing</a:t>
                </a:r>
                <a:endParaRPr lang="en-GB" altLang="en-US"/>
              </a:p>
            </p:txBody>
          </p:sp>
          <p:sp>
            <p:nvSpPr>
              <p:cNvPr id="25640" name="Rectangle 40">
                <a:extLst>
                  <a:ext uri="{FF2B5EF4-FFF2-40B4-BE49-F238E27FC236}">
                    <a16:creationId xmlns:a16="http://schemas.microsoft.com/office/drawing/2014/main" id="{B5C537AB-5B64-AA9D-6272-31264AD5E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55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Operation and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maintenance</a:t>
                </a:r>
                <a:endParaRPr lang="en-GB" altLang="en-US"/>
              </a:p>
            </p:txBody>
          </p:sp>
          <p:cxnSp>
            <p:nvCxnSpPr>
              <p:cNvPr id="25641" name="AutoShape 41">
                <a:extLst>
                  <a:ext uri="{FF2B5EF4-FFF2-40B4-BE49-F238E27FC236}">
                    <a16:creationId xmlns:a16="http://schemas.microsoft.com/office/drawing/2014/main" id="{5FF8378D-326E-B821-8345-C0D2B44B4CFD}"/>
                  </a:ext>
                </a:extLst>
              </p:cNvPr>
              <p:cNvCxnSpPr>
                <a:cxnSpLocks noChangeShapeType="1"/>
                <a:stCxn id="25635" idx="3"/>
                <a:endCxn id="25636" idx="0"/>
              </p:cNvCxnSpPr>
              <p:nvPr/>
            </p:nvCxnSpPr>
            <p:spPr bwMode="auto">
              <a:xfrm>
                <a:off x="1392" y="132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42" name="AutoShape 42">
                <a:extLst>
                  <a:ext uri="{FF2B5EF4-FFF2-40B4-BE49-F238E27FC236}">
                    <a16:creationId xmlns:a16="http://schemas.microsoft.com/office/drawing/2014/main" id="{58BA75C6-C959-AD25-6844-2F00B4C155F7}"/>
                  </a:ext>
                </a:extLst>
              </p:cNvPr>
              <p:cNvCxnSpPr>
                <a:cxnSpLocks noChangeShapeType="1"/>
                <a:stCxn id="25636" idx="3"/>
                <a:endCxn id="25637" idx="0"/>
              </p:cNvCxnSpPr>
              <p:nvPr/>
            </p:nvCxnSpPr>
            <p:spPr bwMode="auto">
              <a:xfrm>
                <a:off x="1968" y="180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43" name="AutoShape 43">
                <a:extLst>
                  <a:ext uri="{FF2B5EF4-FFF2-40B4-BE49-F238E27FC236}">
                    <a16:creationId xmlns:a16="http://schemas.microsoft.com/office/drawing/2014/main" id="{9D1CE003-BF38-74BC-439D-42405A2CD79F}"/>
                  </a:ext>
                </a:extLst>
              </p:cNvPr>
              <p:cNvCxnSpPr>
                <a:cxnSpLocks noChangeShapeType="1"/>
                <a:stCxn id="25637" idx="3"/>
                <a:endCxn id="25638" idx="0"/>
              </p:cNvCxnSpPr>
              <p:nvPr/>
            </p:nvCxnSpPr>
            <p:spPr bwMode="auto">
              <a:xfrm>
                <a:off x="2544" y="228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44" name="AutoShape 44">
                <a:extLst>
                  <a:ext uri="{FF2B5EF4-FFF2-40B4-BE49-F238E27FC236}">
                    <a16:creationId xmlns:a16="http://schemas.microsoft.com/office/drawing/2014/main" id="{6ACF4176-2C2E-B59D-2278-99434C8916D3}"/>
                  </a:ext>
                </a:extLst>
              </p:cNvPr>
              <p:cNvCxnSpPr>
                <a:cxnSpLocks noChangeShapeType="1"/>
                <a:stCxn id="25638" idx="3"/>
                <a:endCxn id="25639" idx="0"/>
              </p:cNvCxnSpPr>
              <p:nvPr/>
            </p:nvCxnSpPr>
            <p:spPr bwMode="auto">
              <a:xfrm>
                <a:off x="3120" y="276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645" name="AutoShape 45">
                <a:extLst>
                  <a:ext uri="{FF2B5EF4-FFF2-40B4-BE49-F238E27FC236}">
                    <a16:creationId xmlns:a16="http://schemas.microsoft.com/office/drawing/2014/main" id="{65A9E717-E901-DCB2-DD7B-ED4833DB39B8}"/>
                  </a:ext>
                </a:extLst>
              </p:cNvPr>
              <p:cNvCxnSpPr>
                <a:cxnSpLocks noChangeShapeType="1"/>
                <a:stCxn id="25639" idx="3"/>
                <a:endCxn id="25640" idx="0"/>
              </p:cNvCxnSpPr>
              <p:nvPr/>
            </p:nvCxnSpPr>
            <p:spPr bwMode="auto">
              <a:xfrm>
                <a:off x="3696" y="324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400D237-DDDF-E492-7690-D1CBF2D93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ISO usability standard 9241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27A64A2-6E69-1663-9293-9C5785B94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/>
              <a:t>adopts traditional usability categories:</a:t>
            </a:r>
          </a:p>
          <a:p>
            <a:endParaRPr lang="en-GB" altLang="en-US" sz="1200"/>
          </a:p>
          <a:p>
            <a:r>
              <a:rPr lang="en-GB" altLang="en-US"/>
              <a:t>effectiveness</a:t>
            </a:r>
          </a:p>
          <a:p>
            <a:pPr lvl="1"/>
            <a:r>
              <a:rPr lang="en-GB" altLang="en-US"/>
              <a:t>can you achieve what you want to?</a:t>
            </a:r>
          </a:p>
          <a:p>
            <a:r>
              <a:rPr lang="en-GB" altLang="en-US"/>
              <a:t>efficiency</a:t>
            </a:r>
          </a:p>
          <a:p>
            <a:pPr lvl="1"/>
            <a:r>
              <a:rPr lang="en-GB" altLang="en-US"/>
              <a:t>can you do it without wasting effort?</a:t>
            </a:r>
          </a:p>
          <a:p>
            <a:r>
              <a:rPr lang="en-GB" altLang="en-US"/>
              <a:t>satisfaction</a:t>
            </a:r>
          </a:p>
          <a:p>
            <a:pPr lvl="1"/>
            <a:r>
              <a:rPr lang="en-GB" altLang="en-US"/>
              <a:t>do you enjoy the process?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7FC6-77A6-DF9C-F6B0-ACA6E4D8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3B0ACC-AB84-4455-D697-A84F7EB34B12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F777F-959E-9EF3-490C-E4D757F6AD03}"/>
              </a:ext>
            </a:extLst>
          </p:cNvPr>
          <p:cNvSpPr txBox="1"/>
          <p:nvPr/>
        </p:nvSpPr>
        <p:spPr>
          <a:xfrm>
            <a:off x="1619672" y="2274838"/>
            <a:ext cx="62440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Usability Evaluation</a:t>
            </a:r>
          </a:p>
          <a:p>
            <a:pPr algn="ctr"/>
            <a:r>
              <a:rPr lang="en-US" b="1" dirty="0"/>
              <a:t>???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ChatGPT vs Gemini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669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141043C-FD83-53FA-B8F2-B915E3F8B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Verification and validation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F5FBDA0-C508-F95B-FDC4-4EC648908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7772400" cy="41148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endParaRPr lang="en-GB" altLang="en-US" sz="2000"/>
          </a:p>
          <a:p>
            <a:pPr marL="0" indent="0">
              <a:lnSpc>
                <a:spcPct val="90000"/>
              </a:lnSpc>
              <a:buFontTx/>
              <a:buNone/>
            </a:pPr>
            <a:endParaRPr lang="en-GB" altLang="en-US" sz="2000"/>
          </a:p>
          <a:p>
            <a:pPr marL="0" indent="0">
              <a:lnSpc>
                <a:spcPct val="90000"/>
              </a:lnSpc>
              <a:buFontTx/>
              <a:buNone/>
            </a:pPr>
            <a:endParaRPr lang="en-GB" altLang="en-US" sz="200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000"/>
              <a:t>Verification</a:t>
            </a:r>
          </a:p>
          <a:p>
            <a:pPr marL="190500" lvl="1" indent="6350">
              <a:lnSpc>
                <a:spcPct val="90000"/>
              </a:lnSpc>
              <a:buFontTx/>
              <a:buNone/>
            </a:pPr>
            <a:r>
              <a:rPr lang="en-GB" altLang="en-US" sz="1800"/>
              <a:t>designing the product right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000"/>
              <a:t> Validation</a:t>
            </a:r>
          </a:p>
          <a:p>
            <a:pPr marL="190500" lvl="1" indent="6350">
              <a:lnSpc>
                <a:spcPct val="90000"/>
              </a:lnSpc>
              <a:buFontTx/>
              <a:buNone/>
            </a:pPr>
            <a:r>
              <a:rPr lang="en-GB" altLang="en-US" sz="1800"/>
              <a:t>designing the right product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000"/>
              <a:t> 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000"/>
              <a:t>The formality gap</a:t>
            </a:r>
          </a:p>
          <a:p>
            <a:pPr marL="190500" lvl="1" indent="6350">
              <a:lnSpc>
                <a:spcPct val="90000"/>
              </a:lnSpc>
              <a:buFontTx/>
              <a:buNone/>
            </a:pPr>
            <a:r>
              <a:rPr lang="en-GB" altLang="en-US" sz="1800"/>
              <a:t>validation will always rely to some extent on subjective means of proof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000"/>
              <a:t>Management and contractual issues</a:t>
            </a:r>
          </a:p>
          <a:p>
            <a:pPr marL="190500" lvl="1" indent="6350">
              <a:lnSpc>
                <a:spcPct val="90000"/>
              </a:lnSpc>
              <a:buFontTx/>
              <a:buNone/>
            </a:pPr>
            <a:r>
              <a:rPr lang="en-GB" altLang="en-US" sz="1800"/>
              <a:t>design in commercial and legal contexts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GB" altLang="en-US" sz="2000"/>
          </a:p>
        </p:txBody>
      </p:sp>
      <p:grpSp>
        <p:nvGrpSpPr>
          <p:cNvPr id="24593" name="Group 17">
            <a:extLst>
              <a:ext uri="{FF2B5EF4-FFF2-40B4-BE49-F238E27FC236}">
                <a16:creationId xmlns:a16="http://schemas.microsoft.com/office/drawing/2014/main" id="{94E57C58-30AB-EA3B-567B-6175DDF0AF55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1600200"/>
            <a:ext cx="5324475" cy="1812925"/>
            <a:chOff x="915" y="1008"/>
            <a:chExt cx="3354" cy="1142"/>
          </a:xfrm>
        </p:grpSpPr>
        <p:grpSp>
          <p:nvGrpSpPr>
            <p:cNvPr id="24594" name="Group 18">
              <a:extLst>
                <a:ext uri="{FF2B5EF4-FFF2-40B4-BE49-F238E27FC236}">
                  <a16:creationId xmlns:a16="http://schemas.microsoft.com/office/drawing/2014/main" id="{3F2D89F7-3FB2-ED2E-B3E0-3B18C33AD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7" y="1036"/>
              <a:ext cx="1392" cy="1114"/>
              <a:chOff x="576" y="1152"/>
              <a:chExt cx="3696" cy="2736"/>
            </a:xfrm>
          </p:grpSpPr>
          <p:sp>
            <p:nvSpPr>
              <p:cNvPr id="24595" name="Rectangle 19">
                <a:extLst>
                  <a:ext uri="{FF2B5EF4-FFF2-40B4-BE49-F238E27FC236}">
                    <a16:creationId xmlns:a16="http://schemas.microsoft.com/office/drawing/2014/main" id="{B351C2BF-FA00-FB9B-EC11-6E32AD8542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15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4596" name="Rectangle 20">
                <a:extLst>
                  <a:ext uri="{FF2B5EF4-FFF2-40B4-BE49-F238E27FC236}">
                    <a16:creationId xmlns:a16="http://schemas.microsoft.com/office/drawing/2014/main" id="{22A3ACD0-63C6-E9BF-3658-D9C79C812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3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4597" name="Rectangle 21">
                <a:extLst>
                  <a:ext uri="{FF2B5EF4-FFF2-40B4-BE49-F238E27FC236}">
                    <a16:creationId xmlns:a16="http://schemas.microsoft.com/office/drawing/2014/main" id="{4965F8D8-26AB-A48D-49F3-CF32A5D0F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11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4598" name="Rectangle 22">
                <a:extLst>
                  <a:ext uri="{FF2B5EF4-FFF2-40B4-BE49-F238E27FC236}">
                    <a16:creationId xmlns:a16="http://schemas.microsoft.com/office/drawing/2014/main" id="{8556B057-735F-081C-496E-B5646095A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4599" name="Rectangle 23">
                <a:extLst>
                  <a:ext uri="{FF2B5EF4-FFF2-40B4-BE49-F238E27FC236}">
                    <a16:creationId xmlns:a16="http://schemas.microsoft.com/office/drawing/2014/main" id="{408F96AB-FBF1-4D99-E949-5D7C827AB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07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4600" name="Rectangle 24">
                <a:extLst>
                  <a:ext uri="{FF2B5EF4-FFF2-40B4-BE49-F238E27FC236}">
                    <a16:creationId xmlns:a16="http://schemas.microsoft.com/office/drawing/2014/main" id="{F86DB912-3FB2-C8CE-DF70-E42CF4D0E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552"/>
                <a:ext cx="816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cxnSp>
            <p:nvCxnSpPr>
              <p:cNvPr id="24601" name="AutoShape 25">
                <a:extLst>
                  <a:ext uri="{FF2B5EF4-FFF2-40B4-BE49-F238E27FC236}">
                    <a16:creationId xmlns:a16="http://schemas.microsoft.com/office/drawing/2014/main" id="{55DA9D66-912D-6B79-511B-FB06F224661E}"/>
                  </a:ext>
                </a:extLst>
              </p:cNvPr>
              <p:cNvCxnSpPr>
                <a:cxnSpLocks noChangeShapeType="1"/>
                <a:stCxn id="24595" idx="3"/>
                <a:endCxn id="24596" idx="0"/>
              </p:cNvCxnSpPr>
              <p:nvPr/>
            </p:nvCxnSpPr>
            <p:spPr bwMode="auto">
              <a:xfrm>
                <a:off x="1392" y="132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602" name="AutoShape 26">
                <a:extLst>
                  <a:ext uri="{FF2B5EF4-FFF2-40B4-BE49-F238E27FC236}">
                    <a16:creationId xmlns:a16="http://schemas.microsoft.com/office/drawing/2014/main" id="{C3712B12-E209-2CDE-C49A-C91C936CB5F2}"/>
                  </a:ext>
                </a:extLst>
              </p:cNvPr>
              <p:cNvCxnSpPr>
                <a:cxnSpLocks noChangeShapeType="1"/>
                <a:stCxn id="24596" idx="3"/>
                <a:endCxn id="24597" idx="0"/>
              </p:cNvCxnSpPr>
              <p:nvPr/>
            </p:nvCxnSpPr>
            <p:spPr bwMode="auto">
              <a:xfrm>
                <a:off x="1968" y="180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603" name="AutoShape 27">
                <a:extLst>
                  <a:ext uri="{FF2B5EF4-FFF2-40B4-BE49-F238E27FC236}">
                    <a16:creationId xmlns:a16="http://schemas.microsoft.com/office/drawing/2014/main" id="{722637A3-7779-17AC-B983-F97221C332BB}"/>
                  </a:ext>
                </a:extLst>
              </p:cNvPr>
              <p:cNvCxnSpPr>
                <a:cxnSpLocks noChangeShapeType="1"/>
                <a:stCxn id="24597" idx="3"/>
                <a:endCxn id="24598" idx="0"/>
              </p:cNvCxnSpPr>
              <p:nvPr/>
            </p:nvCxnSpPr>
            <p:spPr bwMode="auto">
              <a:xfrm>
                <a:off x="2544" y="228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604" name="AutoShape 28">
                <a:extLst>
                  <a:ext uri="{FF2B5EF4-FFF2-40B4-BE49-F238E27FC236}">
                    <a16:creationId xmlns:a16="http://schemas.microsoft.com/office/drawing/2014/main" id="{D9BEF7CD-AEB2-8E40-6856-46B2110969DE}"/>
                  </a:ext>
                </a:extLst>
              </p:cNvPr>
              <p:cNvCxnSpPr>
                <a:cxnSpLocks noChangeShapeType="1"/>
                <a:stCxn id="24598" idx="3"/>
                <a:endCxn id="24599" idx="0"/>
              </p:cNvCxnSpPr>
              <p:nvPr/>
            </p:nvCxnSpPr>
            <p:spPr bwMode="auto">
              <a:xfrm>
                <a:off x="3120" y="276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605" name="AutoShape 29">
                <a:extLst>
                  <a:ext uri="{FF2B5EF4-FFF2-40B4-BE49-F238E27FC236}">
                    <a16:creationId xmlns:a16="http://schemas.microsoft.com/office/drawing/2014/main" id="{9D307EE6-64C7-9226-1A50-9E153590307D}"/>
                  </a:ext>
                </a:extLst>
              </p:cNvPr>
              <p:cNvCxnSpPr>
                <a:cxnSpLocks noChangeShapeType="1"/>
                <a:stCxn id="24599" idx="3"/>
                <a:endCxn id="24600" idx="0"/>
              </p:cNvCxnSpPr>
              <p:nvPr/>
            </p:nvCxnSpPr>
            <p:spPr bwMode="auto">
              <a:xfrm>
                <a:off x="3696" y="3240"/>
                <a:ext cx="168" cy="312"/>
              </a:xfrm>
              <a:prstGeom prst="bentConnector2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4606" name="Group 30">
              <a:extLst>
                <a:ext uri="{FF2B5EF4-FFF2-40B4-BE49-F238E27FC236}">
                  <a16:creationId xmlns:a16="http://schemas.microsoft.com/office/drawing/2014/main" id="{1E46EAE0-73E0-FF6F-1761-1C7BB5867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" y="1008"/>
              <a:ext cx="1101" cy="1132"/>
              <a:chOff x="576" y="1680"/>
              <a:chExt cx="1101" cy="1132"/>
            </a:xfrm>
          </p:grpSpPr>
          <p:sp>
            <p:nvSpPr>
              <p:cNvPr id="24607" name="Freeform 31">
                <a:extLst>
                  <a:ext uri="{FF2B5EF4-FFF2-40B4-BE49-F238E27FC236}">
                    <a16:creationId xmlns:a16="http://schemas.microsoft.com/office/drawing/2014/main" id="{54BBC56D-99F7-BFBD-98D6-7405BB391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1680"/>
                <a:ext cx="1101" cy="1132"/>
              </a:xfrm>
              <a:custGeom>
                <a:avLst/>
                <a:gdLst>
                  <a:gd name="T0" fmla="*/ 189 w 1101"/>
                  <a:gd name="T1" fmla="*/ 460 h 1132"/>
                  <a:gd name="T2" fmla="*/ 125 w 1101"/>
                  <a:gd name="T3" fmla="*/ 700 h 1132"/>
                  <a:gd name="T4" fmla="*/ 229 w 1101"/>
                  <a:gd name="T5" fmla="*/ 812 h 1132"/>
                  <a:gd name="T6" fmla="*/ 269 w 1101"/>
                  <a:gd name="T7" fmla="*/ 900 h 1132"/>
                  <a:gd name="T8" fmla="*/ 341 w 1101"/>
                  <a:gd name="T9" fmla="*/ 1092 h 1132"/>
                  <a:gd name="T10" fmla="*/ 445 w 1101"/>
                  <a:gd name="T11" fmla="*/ 1132 h 1132"/>
                  <a:gd name="T12" fmla="*/ 621 w 1101"/>
                  <a:gd name="T13" fmla="*/ 1092 h 1132"/>
                  <a:gd name="T14" fmla="*/ 773 w 1101"/>
                  <a:gd name="T15" fmla="*/ 996 h 1132"/>
                  <a:gd name="T16" fmla="*/ 765 w 1101"/>
                  <a:gd name="T17" fmla="*/ 964 h 1132"/>
                  <a:gd name="T18" fmla="*/ 933 w 1101"/>
                  <a:gd name="T19" fmla="*/ 932 h 1132"/>
                  <a:gd name="T20" fmla="*/ 1053 w 1101"/>
                  <a:gd name="T21" fmla="*/ 876 h 1132"/>
                  <a:gd name="T22" fmla="*/ 1101 w 1101"/>
                  <a:gd name="T23" fmla="*/ 740 h 1132"/>
                  <a:gd name="T24" fmla="*/ 981 w 1101"/>
                  <a:gd name="T25" fmla="*/ 492 h 1132"/>
                  <a:gd name="T26" fmla="*/ 885 w 1101"/>
                  <a:gd name="T27" fmla="*/ 372 h 1132"/>
                  <a:gd name="T28" fmla="*/ 861 w 1101"/>
                  <a:gd name="T29" fmla="*/ 348 h 1132"/>
                  <a:gd name="T30" fmla="*/ 837 w 1101"/>
                  <a:gd name="T31" fmla="*/ 372 h 1132"/>
                  <a:gd name="T32" fmla="*/ 829 w 1101"/>
                  <a:gd name="T33" fmla="*/ 316 h 1132"/>
                  <a:gd name="T34" fmla="*/ 813 w 1101"/>
                  <a:gd name="T35" fmla="*/ 284 h 1132"/>
                  <a:gd name="T36" fmla="*/ 781 w 1101"/>
                  <a:gd name="T37" fmla="*/ 172 h 1132"/>
                  <a:gd name="T38" fmla="*/ 749 w 1101"/>
                  <a:gd name="T39" fmla="*/ 156 h 1132"/>
                  <a:gd name="T40" fmla="*/ 501 w 1101"/>
                  <a:gd name="T41" fmla="*/ 108 h 1132"/>
                  <a:gd name="T42" fmla="*/ 477 w 1101"/>
                  <a:gd name="T43" fmla="*/ 116 h 1132"/>
                  <a:gd name="T44" fmla="*/ 469 w 1101"/>
                  <a:gd name="T45" fmla="*/ 76 h 1132"/>
                  <a:gd name="T46" fmla="*/ 429 w 1101"/>
                  <a:gd name="T47" fmla="*/ 12 h 1132"/>
                  <a:gd name="T48" fmla="*/ 373 w 1101"/>
                  <a:gd name="T49" fmla="*/ 4 h 1132"/>
                  <a:gd name="T50" fmla="*/ 245 w 1101"/>
                  <a:gd name="T51" fmla="*/ 20 h 1132"/>
                  <a:gd name="T52" fmla="*/ 229 w 1101"/>
                  <a:gd name="T53" fmla="*/ 60 h 1132"/>
                  <a:gd name="T54" fmla="*/ 157 w 1101"/>
                  <a:gd name="T55" fmla="*/ 180 h 1132"/>
                  <a:gd name="T56" fmla="*/ 149 w 1101"/>
                  <a:gd name="T57" fmla="*/ 252 h 1132"/>
                  <a:gd name="T58" fmla="*/ 101 w 1101"/>
                  <a:gd name="T59" fmla="*/ 340 h 1132"/>
                  <a:gd name="T60" fmla="*/ 181 w 1101"/>
                  <a:gd name="T61" fmla="*/ 444 h 1132"/>
                  <a:gd name="T62" fmla="*/ 189 w 1101"/>
                  <a:gd name="T63" fmla="*/ 468 h 1132"/>
                  <a:gd name="T64" fmla="*/ 181 w 1101"/>
                  <a:gd name="T65" fmla="*/ 492 h 1132"/>
                  <a:gd name="T66" fmla="*/ 189 w 1101"/>
                  <a:gd name="T67" fmla="*/ 46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01" h="1132">
                    <a:moveTo>
                      <a:pt x="189" y="460"/>
                    </a:moveTo>
                    <a:cubicBezTo>
                      <a:pt x="134" y="523"/>
                      <a:pt x="0" y="625"/>
                      <a:pt x="125" y="700"/>
                    </a:cubicBezTo>
                    <a:cubicBezTo>
                      <a:pt x="141" y="749"/>
                      <a:pt x="189" y="779"/>
                      <a:pt x="229" y="812"/>
                    </a:cubicBezTo>
                    <a:cubicBezTo>
                      <a:pt x="243" y="841"/>
                      <a:pt x="254" y="870"/>
                      <a:pt x="269" y="900"/>
                    </a:cubicBezTo>
                    <a:cubicBezTo>
                      <a:pt x="277" y="937"/>
                      <a:pt x="289" y="1062"/>
                      <a:pt x="341" y="1092"/>
                    </a:cubicBezTo>
                    <a:cubicBezTo>
                      <a:pt x="373" y="1110"/>
                      <a:pt x="411" y="1115"/>
                      <a:pt x="445" y="1132"/>
                    </a:cubicBezTo>
                    <a:cubicBezTo>
                      <a:pt x="469" y="1125"/>
                      <a:pt x="579" y="1078"/>
                      <a:pt x="621" y="1092"/>
                    </a:cubicBezTo>
                    <a:cubicBezTo>
                      <a:pt x="737" y="1062"/>
                      <a:pt x="754" y="1088"/>
                      <a:pt x="773" y="996"/>
                    </a:cubicBezTo>
                    <a:cubicBezTo>
                      <a:pt x="770" y="985"/>
                      <a:pt x="754" y="968"/>
                      <a:pt x="765" y="964"/>
                    </a:cubicBezTo>
                    <a:cubicBezTo>
                      <a:pt x="817" y="942"/>
                      <a:pt x="933" y="932"/>
                      <a:pt x="933" y="932"/>
                    </a:cubicBezTo>
                    <a:cubicBezTo>
                      <a:pt x="972" y="908"/>
                      <a:pt x="1008" y="887"/>
                      <a:pt x="1053" y="876"/>
                    </a:cubicBezTo>
                    <a:cubicBezTo>
                      <a:pt x="1066" y="823"/>
                      <a:pt x="1075" y="790"/>
                      <a:pt x="1101" y="740"/>
                    </a:cubicBezTo>
                    <a:cubicBezTo>
                      <a:pt x="1071" y="650"/>
                      <a:pt x="1089" y="528"/>
                      <a:pt x="981" y="492"/>
                    </a:cubicBezTo>
                    <a:cubicBezTo>
                      <a:pt x="949" y="452"/>
                      <a:pt x="917" y="411"/>
                      <a:pt x="885" y="372"/>
                    </a:cubicBezTo>
                    <a:cubicBezTo>
                      <a:pt x="877" y="363"/>
                      <a:pt x="872" y="348"/>
                      <a:pt x="861" y="348"/>
                    </a:cubicBezTo>
                    <a:cubicBezTo>
                      <a:pt x="849" y="348"/>
                      <a:pt x="845" y="364"/>
                      <a:pt x="837" y="372"/>
                    </a:cubicBezTo>
                    <a:cubicBezTo>
                      <a:pt x="798" y="313"/>
                      <a:pt x="837" y="385"/>
                      <a:pt x="829" y="316"/>
                    </a:cubicBezTo>
                    <a:cubicBezTo>
                      <a:pt x="827" y="304"/>
                      <a:pt x="817" y="294"/>
                      <a:pt x="813" y="284"/>
                    </a:cubicBezTo>
                    <a:cubicBezTo>
                      <a:pt x="798" y="250"/>
                      <a:pt x="800" y="201"/>
                      <a:pt x="781" y="172"/>
                    </a:cubicBezTo>
                    <a:cubicBezTo>
                      <a:pt x="774" y="162"/>
                      <a:pt x="759" y="161"/>
                      <a:pt x="749" y="156"/>
                    </a:cubicBezTo>
                    <a:cubicBezTo>
                      <a:pt x="685" y="71"/>
                      <a:pt x="600" y="103"/>
                      <a:pt x="501" y="108"/>
                    </a:cubicBezTo>
                    <a:cubicBezTo>
                      <a:pt x="493" y="110"/>
                      <a:pt x="482" y="121"/>
                      <a:pt x="477" y="116"/>
                    </a:cubicBezTo>
                    <a:cubicBezTo>
                      <a:pt x="467" y="106"/>
                      <a:pt x="474" y="88"/>
                      <a:pt x="469" y="76"/>
                    </a:cubicBezTo>
                    <a:cubicBezTo>
                      <a:pt x="458" y="53"/>
                      <a:pt x="449" y="27"/>
                      <a:pt x="429" y="12"/>
                    </a:cubicBezTo>
                    <a:cubicBezTo>
                      <a:pt x="413" y="0"/>
                      <a:pt x="391" y="6"/>
                      <a:pt x="373" y="4"/>
                    </a:cubicBezTo>
                    <a:cubicBezTo>
                      <a:pt x="332" y="17"/>
                      <a:pt x="284" y="4"/>
                      <a:pt x="245" y="20"/>
                    </a:cubicBezTo>
                    <a:cubicBezTo>
                      <a:pt x="231" y="25"/>
                      <a:pt x="235" y="47"/>
                      <a:pt x="229" y="60"/>
                    </a:cubicBezTo>
                    <a:cubicBezTo>
                      <a:pt x="206" y="100"/>
                      <a:pt x="181" y="140"/>
                      <a:pt x="157" y="180"/>
                    </a:cubicBezTo>
                    <a:cubicBezTo>
                      <a:pt x="154" y="204"/>
                      <a:pt x="156" y="229"/>
                      <a:pt x="149" y="252"/>
                    </a:cubicBezTo>
                    <a:cubicBezTo>
                      <a:pt x="137" y="283"/>
                      <a:pt x="104" y="306"/>
                      <a:pt x="101" y="340"/>
                    </a:cubicBezTo>
                    <a:cubicBezTo>
                      <a:pt x="96" y="382"/>
                      <a:pt x="150" y="423"/>
                      <a:pt x="181" y="444"/>
                    </a:cubicBezTo>
                    <a:cubicBezTo>
                      <a:pt x="183" y="452"/>
                      <a:pt x="189" y="459"/>
                      <a:pt x="189" y="468"/>
                    </a:cubicBezTo>
                    <a:cubicBezTo>
                      <a:pt x="189" y="476"/>
                      <a:pt x="181" y="500"/>
                      <a:pt x="181" y="492"/>
                    </a:cubicBezTo>
                    <a:cubicBezTo>
                      <a:pt x="181" y="481"/>
                      <a:pt x="186" y="470"/>
                      <a:pt x="189" y="46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608" name="Text Box 32">
                <a:extLst>
                  <a:ext uri="{FF2B5EF4-FFF2-40B4-BE49-F238E27FC236}">
                    <a16:creationId xmlns:a16="http://schemas.microsoft.com/office/drawing/2014/main" id="{0C2EEBC5-5D73-A580-214C-9B6473456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9" y="1997"/>
                <a:ext cx="765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 sz="1200">
                    <a:latin typeface="Arial" panose="020B0604020202020204" pitchFamily="34" charset="0"/>
                  </a:rPr>
                  <a:t>Real-world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requirements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and constraints</a:t>
                </a:r>
                <a:endParaRPr lang="en-GB" altLang="en-US"/>
              </a:p>
            </p:txBody>
          </p:sp>
        </p:grpSp>
        <p:sp>
          <p:nvSpPr>
            <p:cNvPr id="24609" name="AutoShape 33">
              <a:extLst>
                <a:ext uri="{FF2B5EF4-FFF2-40B4-BE49-F238E27FC236}">
                  <a16:creationId xmlns:a16="http://schemas.microsoft.com/office/drawing/2014/main" id="{3D74836F-005C-E2B7-CDEE-B2759AE9E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392"/>
              <a:ext cx="864" cy="192"/>
            </a:xfrm>
            <a:prstGeom prst="leftRightArrow">
              <a:avLst>
                <a:gd name="adj1" fmla="val 50000"/>
                <a:gd name="adj2" fmla="val 90000"/>
              </a:avLst>
            </a:prstGeom>
            <a:solidFill>
              <a:srgbClr val="2E005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10" name="Text Box 34">
              <a:extLst>
                <a:ext uri="{FF2B5EF4-FFF2-40B4-BE49-F238E27FC236}">
                  <a16:creationId xmlns:a16="http://schemas.microsoft.com/office/drawing/2014/main" id="{DD946359-A9C8-53B4-D169-E3270B558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584"/>
              <a:ext cx="85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200">
                  <a:latin typeface="Arial" panose="020B0604020202020204" pitchFamily="34" charset="0"/>
                </a:rPr>
                <a:t>The formality gap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EC2D-5726-22BE-37E5-39D6860B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5AA4A-4419-D0A6-1A0A-DE0FD2D8F2F6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008F5-E9EF-FC80-B8D9-C88AF6DBE662}"/>
              </a:ext>
            </a:extLst>
          </p:cNvPr>
          <p:cNvSpPr txBox="1"/>
          <p:nvPr/>
        </p:nvSpPr>
        <p:spPr>
          <a:xfrm>
            <a:off x="1187624" y="908720"/>
            <a:ext cx="7272808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software perfectly follows the SRS.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refuse to use it.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Is this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A. Verification problem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B. Validation problem</a:t>
            </a:r>
          </a:p>
        </p:txBody>
      </p:sp>
    </p:spTree>
    <p:extLst>
      <p:ext uri="{BB962C8B-B14F-4D97-AF65-F5344CB8AC3E}">
        <p14:creationId xmlns:p14="http://schemas.microsoft.com/office/powerpoint/2010/main" val="297777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57B8A99-ACAE-A5FD-BCB6-25C4FC0E2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Iterative design and prototyping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F22CBC7-5263-F8A5-FBC5-89BCA7E29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/>
              <a:t>Iterative design overcomes inherent problems of incomplete requirements</a:t>
            </a:r>
          </a:p>
          <a:p>
            <a:pPr>
              <a:lnSpc>
                <a:spcPct val="90000"/>
              </a:lnSpc>
            </a:pPr>
            <a:endParaRPr lang="en-GB" altLang="en-US" sz="1400"/>
          </a:p>
          <a:p>
            <a:pPr>
              <a:lnSpc>
                <a:spcPct val="90000"/>
              </a:lnSpc>
            </a:pPr>
            <a:r>
              <a:rPr lang="en-GB" altLang="en-US" sz="1800"/>
              <a:t>Prototypes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simulate or animate some features of intended system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different types of prototypes</a:t>
            </a:r>
          </a:p>
          <a:p>
            <a:pPr lvl="2">
              <a:lnSpc>
                <a:spcPct val="90000"/>
              </a:lnSpc>
            </a:pPr>
            <a:r>
              <a:rPr lang="en-GB" altLang="en-US" sz="1400"/>
              <a:t>throw-away</a:t>
            </a:r>
          </a:p>
          <a:p>
            <a:pPr lvl="2">
              <a:lnSpc>
                <a:spcPct val="90000"/>
              </a:lnSpc>
            </a:pPr>
            <a:r>
              <a:rPr lang="en-GB" altLang="en-US" sz="1400"/>
              <a:t>incremental</a:t>
            </a:r>
          </a:p>
          <a:p>
            <a:pPr lvl="2">
              <a:lnSpc>
                <a:spcPct val="90000"/>
              </a:lnSpc>
            </a:pPr>
            <a:r>
              <a:rPr lang="en-GB" altLang="en-US" sz="1400"/>
              <a:t>evolutionary</a:t>
            </a:r>
          </a:p>
          <a:p>
            <a:pPr>
              <a:lnSpc>
                <a:spcPct val="90000"/>
              </a:lnSpc>
            </a:pPr>
            <a:endParaRPr lang="en-GB" altLang="en-US" sz="1400"/>
          </a:p>
          <a:p>
            <a:pPr>
              <a:lnSpc>
                <a:spcPct val="90000"/>
              </a:lnSpc>
            </a:pPr>
            <a:r>
              <a:rPr lang="en-GB" altLang="en-US" sz="1800"/>
              <a:t>Management issues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time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planning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non-functional features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contracts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46FF-1856-FCE1-8454-264D8CA9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168AE5-D998-057A-A844-DCCB44D25E4A}"/>
              </a:ext>
            </a:extLst>
          </p:cNvPr>
          <p:cNvSpPr txBox="1"/>
          <p:nvPr/>
        </p:nvSpPr>
        <p:spPr>
          <a:xfrm>
            <a:off x="179512" y="2492896"/>
            <a:ext cx="8686800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Different types of prototyping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Throw-away- The prototype is built and tested. The design knowledge gained from this exercise is used to build the final product, but the actual prototype is discarded.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Incremental- The final product is built as separate components, one at a time. There is one overall design for the final system. The final product is then released as a series of products, each subsequent release including one more component.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Evolutionary - Here the prototype is not discarded and serves as the basis for the next iteration of design. In this case, the actual system is seen as evolving from a very limited initial version to its final release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48A68C-F1D1-63D0-385A-01FE6B93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912" y="1196752"/>
            <a:ext cx="6858000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GB" altLang="en-US" sz="3600" dirty="0"/>
              <a:t>Iterative design and prototyping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B78E6-8659-B108-1988-F8A962CE5E09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8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B8F4-8937-471F-7F6B-12156DF8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2BD93B-B70E-43A0-002D-0A348DC3C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70139"/>
              </p:ext>
            </p:extLst>
          </p:nvPr>
        </p:nvGraphicFramePr>
        <p:xfrm>
          <a:off x="611560" y="1628800"/>
          <a:ext cx="8064897" cy="42401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898">
                  <a:extLst>
                    <a:ext uri="{9D8B030D-6E8A-4147-A177-3AD203B41FA5}">
                      <a16:colId xmlns:a16="http://schemas.microsoft.com/office/drawing/2014/main" val="1167915586"/>
                    </a:ext>
                  </a:extLst>
                </a:gridCol>
                <a:gridCol w="3394662">
                  <a:extLst>
                    <a:ext uri="{9D8B030D-6E8A-4147-A177-3AD203B41FA5}">
                      <a16:colId xmlns:a16="http://schemas.microsoft.com/office/drawing/2014/main" val="4099644639"/>
                    </a:ext>
                  </a:extLst>
                </a:gridCol>
                <a:gridCol w="3024337">
                  <a:extLst>
                    <a:ext uri="{9D8B030D-6E8A-4147-A177-3AD203B41FA5}">
                      <a16:colId xmlns:a16="http://schemas.microsoft.com/office/drawing/2014/main" val="480364017"/>
                    </a:ext>
                  </a:extLst>
                </a:gridCol>
              </a:tblGrid>
              <a:tr h="2083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Happens?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Example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79615"/>
                  </a:ext>
                </a:extLst>
              </a:tr>
              <a:tr h="114589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Throw-away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a prototype only to gather feedback, then discard it and develop the real system from scratch.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paper mock-up of a Food Delivery App is tested with users, then discarded before actual coding begins.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74252449"/>
                  </a:ext>
                </a:extLst>
              </a:tr>
              <a:tr h="98963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Incremental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final system is planned from the beginning, but developed and released one feature (module) at a time.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1 has Login, Version 2 adds Food Ordering, Version 3 adds Payment, Version 4 adds Live Tracking.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40731389"/>
                  </a:ext>
                </a:extLst>
              </a:tr>
              <a:tr h="17709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Evolutionary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with a simple working prototype and continuously improve the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system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on user feedback until it becomes the final product.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basic Food Delivery App with only food ordering is released. Based on user feedback, the same application gradually gains payment, tracking, ratings, AI recommendations, etc.</a:t>
                      </a:r>
                    </a:p>
                  </a:txBody>
                  <a:tcPr marL="52086" marR="52086" marT="26043" marB="26043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9106582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62B75BB-69CE-2275-9B2B-DCF0809D0B29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F346D9-8642-C66E-D192-1397D3B36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79404"/>
            <a:ext cx="6858000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GB" altLang="en-US" sz="3600" dirty="0"/>
              <a:t>Iterative design and prototyping</a:t>
            </a:r>
          </a:p>
        </p:txBody>
      </p:sp>
    </p:spTree>
    <p:extLst>
      <p:ext uri="{BB962C8B-B14F-4D97-AF65-F5344CB8AC3E}">
        <p14:creationId xmlns:p14="http://schemas.microsoft.com/office/powerpoint/2010/main" val="332647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2AF2-444A-6A22-B106-B28D202B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7CD05-ED16-01CB-0220-D3F7EE0F06CC}"/>
              </a:ext>
            </a:extLst>
          </p:cNvPr>
          <p:cNvSpPr txBox="1"/>
          <p:nvPr/>
        </p:nvSpPr>
        <p:spPr>
          <a:xfrm>
            <a:off x="971600" y="1340768"/>
            <a:ext cx="324036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Idea</a:t>
            </a:r>
          </a:p>
          <a:p>
            <a:r>
              <a:rPr lang="en-US" sz="1600" dirty="0"/>
              <a:t>   ↓</a:t>
            </a:r>
          </a:p>
          <a:p>
            <a:r>
              <a:rPr lang="en-US" sz="1600" dirty="0"/>
              <a:t>Prototype</a:t>
            </a:r>
          </a:p>
          <a:p>
            <a:r>
              <a:rPr lang="en-US" sz="1600" dirty="0"/>
              <a:t>   ↓</a:t>
            </a:r>
          </a:p>
          <a:p>
            <a:r>
              <a:rPr lang="en-US" sz="1600" dirty="0"/>
              <a:t>User Feedback</a:t>
            </a:r>
          </a:p>
          <a:p>
            <a:r>
              <a:rPr lang="en-US" sz="1600" dirty="0"/>
              <a:t>   ↓</a:t>
            </a:r>
          </a:p>
          <a:p>
            <a:r>
              <a:rPr lang="en-US" sz="1600" dirty="0"/>
              <a:t>Discard Prototype ❌</a:t>
            </a:r>
          </a:p>
          <a:p>
            <a:r>
              <a:rPr lang="en-US" sz="1600" dirty="0"/>
              <a:t>   ↓</a:t>
            </a:r>
          </a:p>
          <a:p>
            <a:r>
              <a:rPr lang="en-US" sz="1600" dirty="0"/>
              <a:t>Develop Final System from Scratch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04244-D692-13C4-9A86-0958ABD36958}"/>
              </a:ext>
            </a:extLst>
          </p:cNvPr>
          <p:cNvSpPr txBox="1"/>
          <p:nvPr/>
        </p:nvSpPr>
        <p:spPr>
          <a:xfrm rot="16200000">
            <a:off x="-470594" y="2310264"/>
            <a:ext cx="2308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Throw-away Prototype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766A2-E705-58D0-A001-EE255DD54E0D}"/>
              </a:ext>
            </a:extLst>
          </p:cNvPr>
          <p:cNvSpPr txBox="1"/>
          <p:nvPr/>
        </p:nvSpPr>
        <p:spPr>
          <a:xfrm>
            <a:off x="5148064" y="2629045"/>
            <a:ext cx="2376264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Final Design Planned</a:t>
            </a:r>
          </a:p>
          <a:p>
            <a:endParaRPr lang="en-US" sz="1600" dirty="0"/>
          </a:p>
          <a:p>
            <a:r>
              <a:rPr lang="en-US" sz="1600" dirty="0"/>
              <a:t>Version 1</a:t>
            </a:r>
          </a:p>
          <a:p>
            <a:r>
              <a:rPr lang="en-US" sz="1600" dirty="0"/>
              <a:t>(Login)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Version 2</a:t>
            </a:r>
          </a:p>
          <a:p>
            <a:r>
              <a:rPr lang="en-US" sz="1600" dirty="0"/>
              <a:t>(+ Ordering)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Version 3</a:t>
            </a:r>
          </a:p>
          <a:p>
            <a:r>
              <a:rPr lang="en-US" sz="1600" dirty="0"/>
              <a:t>(+ Payment)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Version 4</a:t>
            </a:r>
          </a:p>
          <a:p>
            <a:r>
              <a:rPr lang="en-US" sz="1600" dirty="0"/>
              <a:t>(+ Tracking)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Complete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52C1B-BC3C-F85D-E5C9-1253791B7440}"/>
              </a:ext>
            </a:extLst>
          </p:cNvPr>
          <p:cNvSpPr txBox="1"/>
          <p:nvPr/>
        </p:nvSpPr>
        <p:spPr>
          <a:xfrm rot="5400000">
            <a:off x="6210135" y="4791665"/>
            <a:ext cx="3040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Incremental Prototype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79340-EB1A-2B03-B9DB-9935370F0116}"/>
              </a:ext>
            </a:extLst>
          </p:cNvPr>
          <p:cNvSpPr txBox="1"/>
          <p:nvPr/>
        </p:nvSpPr>
        <p:spPr>
          <a:xfrm>
            <a:off x="1691680" y="4005064"/>
            <a:ext cx="288032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Simple Prototype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Improve Based on Feedback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Improve Again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Improve Again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Final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43A09-F831-3120-73F5-0CCDBF472011}"/>
              </a:ext>
            </a:extLst>
          </p:cNvPr>
          <p:cNvSpPr txBox="1"/>
          <p:nvPr/>
        </p:nvSpPr>
        <p:spPr>
          <a:xfrm rot="16200000">
            <a:off x="-2542" y="4965746"/>
            <a:ext cx="2740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Evolutionary Prototype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5F830A-7C7D-44A3-0897-E924659486C5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D8BCAEBE-87B1-C0F0-4F50-EC440FF05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643" y="-256053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GB" altLang="en-US" sz="3600" dirty="0"/>
              <a:t>Iterative design and prototyping</a:t>
            </a:r>
          </a:p>
        </p:txBody>
      </p:sp>
    </p:spTree>
    <p:extLst>
      <p:ext uri="{BB962C8B-B14F-4D97-AF65-F5344CB8AC3E}">
        <p14:creationId xmlns:p14="http://schemas.microsoft.com/office/powerpoint/2010/main" val="2063021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CFBC-CA57-3727-35D0-52366661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F03395-0709-5ACC-DC90-5A57CA55AE00}"/>
              </a:ext>
            </a:extLst>
          </p:cNvPr>
          <p:cNvSpPr txBox="1"/>
          <p:nvPr/>
        </p:nvSpPr>
        <p:spPr>
          <a:xfrm>
            <a:off x="318942" y="1535661"/>
            <a:ext cx="8686800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What are techniques used for prototyping?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Storyboards -need not be computer-based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Limited functionality simulations - some part of system functionality provided by designers tools like HyperCard are common for these Wizard of Oz technique can be animated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Card Sorting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Storyboards Help Visualize UX Ideas - NN/G">
            <a:extLst>
              <a:ext uri="{FF2B5EF4-FFF2-40B4-BE49-F238E27FC236}">
                <a16:creationId xmlns:a16="http://schemas.microsoft.com/office/drawing/2014/main" id="{B2DEFEAE-62EA-09C5-46D3-1DB14FBC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3" y="5027365"/>
            <a:ext cx="1958485" cy="1805233"/>
          </a:xfrm>
          <a:prstGeom prst="rect">
            <a:avLst/>
          </a:prstGeom>
        </p:spPr>
      </p:pic>
      <p:pic>
        <p:nvPicPr>
          <p:cNvPr id="13" name="Picture 12" descr="Retro Apple: HyperCard Changed the World One Stack at a Time">
            <a:extLst>
              <a:ext uri="{FF2B5EF4-FFF2-40B4-BE49-F238E27FC236}">
                <a16:creationId xmlns:a16="http://schemas.microsoft.com/office/drawing/2014/main" id="{265D70F0-AAC5-25DC-87A3-CADF2AE22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454" y="4910455"/>
            <a:ext cx="2196884" cy="1893340"/>
          </a:xfrm>
          <a:prstGeom prst="rect">
            <a:avLst/>
          </a:prstGeom>
        </p:spPr>
      </p:pic>
      <p:pic>
        <p:nvPicPr>
          <p:cNvPr id="17" name="Picture 16" descr="Wizard of Oz Prototyping: What It Is, How &amp; Why It's Done">
            <a:extLst>
              <a:ext uri="{FF2B5EF4-FFF2-40B4-BE49-F238E27FC236}">
                <a16:creationId xmlns:a16="http://schemas.microsoft.com/office/drawing/2014/main" id="{035FF19D-2607-9385-C4EA-96C3B9ECC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20" r="11689"/>
          <a:stretch>
            <a:fillRect/>
          </a:stretch>
        </p:blipFill>
        <p:spPr>
          <a:xfrm>
            <a:off x="4422595" y="5027366"/>
            <a:ext cx="2438399" cy="1732624"/>
          </a:xfrm>
          <a:prstGeom prst="rect">
            <a:avLst/>
          </a:prstGeom>
        </p:spPr>
      </p:pic>
      <p:pic>
        <p:nvPicPr>
          <p:cNvPr id="19" name="Picture 18" descr="Card sorting in UX: What is it? - UX Design Institute">
            <a:extLst>
              <a:ext uri="{FF2B5EF4-FFF2-40B4-BE49-F238E27FC236}">
                <a16:creationId xmlns:a16="http://schemas.microsoft.com/office/drawing/2014/main" id="{AFDA737E-6736-207C-4480-4EB2F36044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957" t="25923" r="24021" b="5314"/>
          <a:stretch>
            <a:fillRect/>
          </a:stretch>
        </p:blipFill>
        <p:spPr>
          <a:xfrm>
            <a:off x="6948264" y="5373426"/>
            <a:ext cx="2057478" cy="13865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2821BF-1596-6127-9341-FFB229089026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792A8925-F8AD-B818-ACB7-11564C0C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595" y="278904"/>
            <a:ext cx="6858000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GB" altLang="en-US" sz="3600" dirty="0"/>
              <a:t>Iterative design and prototyping</a:t>
            </a:r>
          </a:p>
        </p:txBody>
      </p:sp>
    </p:spTree>
    <p:extLst>
      <p:ext uri="{BB962C8B-B14F-4D97-AF65-F5344CB8AC3E}">
        <p14:creationId xmlns:p14="http://schemas.microsoft.com/office/powerpoint/2010/main" val="1297064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929D-AD07-77A3-9984-6D4B0ABB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680B402-23BC-A66C-55F9-5D1F8BC0B3D4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756683F-96F8-745B-1637-706C58929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571" y="278904"/>
            <a:ext cx="6858000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/>
            <a:r>
              <a:rPr lang="en-GB" altLang="en-US" sz="3600" dirty="0"/>
              <a:t>Iterative design and prototyping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791A2-5EFE-03A1-BFED-214DEFE59E18}"/>
              </a:ext>
            </a:extLst>
          </p:cNvPr>
          <p:cNvSpPr txBox="1"/>
          <p:nvPr/>
        </p:nvSpPr>
        <p:spPr>
          <a:xfrm>
            <a:off x="228600" y="1475656"/>
            <a:ext cx="8686800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Advantages and disadvantages of Prototyping Model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Advantages: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 produces the products quickly and thus saves the time and solves the waiting problem in waterfall model.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 minimizes the cost and product failure.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 is possible for the developers and client to check the function of preliminary implementations of system models before committing to a final system.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 obtains feedback from clients and changes in system concept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Disadvantages: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 ignores quality, reliability maintainability and safety requirements. 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Customer satisfaction is not achieved.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558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1567E67-2FCD-94A8-098C-D3060287C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Design rationale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089908-02F9-E26F-A24A-467AF5118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400"/>
              <a:t>Design rationale is information that explains why a computer system is the way it is.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GB" altLang="en-US" sz="240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GB" altLang="en-US" sz="2400"/>
              <a:t>Benefits of design rationale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communication throughout life cycle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reuse of design knowledge across products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enforces design discipline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presents arguments for design trade-offs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organizes potentially large design space</a:t>
            </a:r>
          </a:p>
          <a:p>
            <a:pPr marL="755650" lvl="1">
              <a:lnSpc>
                <a:spcPct val="90000"/>
              </a:lnSpc>
            </a:pPr>
            <a:r>
              <a:rPr lang="en-GB" altLang="en-US" sz="2000"/>
              <a:t>capturing contextual information </a:t>
            </a:r>
          </a:p>
          <a:p>
            <a:pPr marL="0" indent="0">
              <a:lnSpc>
                <a:spcPct val="90000"/>
              </a:lnSpc>
            </a:pPr>
            <a:endParaRPr lang="en-GB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60E43EF-11B9-A7CE-B43F-B1F743BAD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Design rationale (cont’d)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A6E9902-7327-3FE4-B69F-304D1B918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 dirty="0"/>
              <a:t>Types of DR: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Process-oriented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preserves order of deliberation and decision-making</a:t>
            </a:r>
          </a:p>
          <a:p>
            <a:pPr lvl="1">
              <a:lnSpc>
                <a:spcPct val="90000"/>
              </a:lnSpc>
            </a:pPr>
            <a:endParaRPr lang="en-GB" altLang="en-US" sz="2000" dirty="0"/>
          </a:p>
          <a:p>
            <a:pPr marL="457200" lvl="1" indent="0">
              <a:lnSpc>
                <a:spcPct val="90000"/>
              </a:lnSpc>
              <a:buNone/>
            </a:pPr>
            <a:endParaRPr lang="en-GB" altLang="en-US" sz="2000" dirty="0"/>
          </a:p>
          <a:p>
            <a:pPr>
              <a:lnSpc>
                <a:spcPct val="90000"/>
              </a:lnSpc>
            </a:pPr>
            <a:r>
              <a:rPr lang="en-GB" altLang="en-US" sz="2400" dirty="0"/>
              <a:t>Structure-oriented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emphasizes post hoc structuring of considered design alternatives</a:t>
            </a:r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 marL="0" indent="0">
              <a:lnSpc>
                <a:spcPct val="90000"/>
              </a:lnSpc>
              <a:buNone/>
            </a:pPr>
            <a:endParaRPr lang="en-GB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9FDCE-2600-4E36-9C8A-B64BA1D6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3F47CF-509D-3172-F0B9-CC830F02313B}"/>
              </a:ext>
            </a:extLst>
          </p:cNvPr>
          <p:cNvSpPr txBox="1"/>
          <p:nvPr/>
        </p:nvSpPr>
        <p:spPr>
          <a:xfrm>
            <a:off x="0" y="-77552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CFAB55-6884-BD18-F74C-47B84B6159C7}"/>
              </a:ext>
            </a:extLst>
          </p:cNvPr>
          <p:cNvSpPr txBox="1"/>
          <p:nvPr/>
        </p:nvSpPr>
        <p:spPr>
          <a:xfrm>
            <a:off x="539552" y="1628800"/>
            <a:ext cx="8496944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our team is designing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Learning Management System (LMS)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design question is:</a:t>
            </a:r>
          </a:p>
          <a:p>
            <a:pPr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“How should students log in?”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Possible options:</a:t>
            </a:r>
          </a:p>
          <a:p>
            <a:pPr lvl="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Login </a:t>
            </a:r>
          </a:p>
          <a:p>
            <a:pPr lvl="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+ Password </a:t>
            </a:r>
          </a:p>
          <a:p>
            <a:pPr lvl="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Login 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let’s see how the two approaches differ.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B8C4963-CB6D-242B-E9C4-F9E4EADB7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-77552"/>
            <a:ext cx="6858000" cy="1143000"/>
          </a:xfrm>
        </p:spPr>
        <p:txBody>
          <a:bodyPr/>
          <a:lstStyle/>
          <a:p>
            <a:pPr algn="ctr"/>
            <a:r>
              <a:rPr lang="en-GB" altLang="en-US" dirty="0"/>
              <a:t>Design rationale (cont’d)</a:t>
            </a:r>
          </a:p>
        </p:txBody>
      </p:sp>
    </p:spTree>
    <p:extLst>
      <p:ext uri="{BB962C8B-B14F-4D97-AF65-F5344CB8AC3E}">
        <p14:creationId xmlns:p14="http://schemas.microsoft.com/office/powerpoint/2010/main" val="315260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AF1D-4968-E485-D45C-CD4B114D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EB080-7B3A-3C1E-57FD-C9463A5664EC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B02DF5-BF0A-48D3-810D-6A3973F0E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9632" y="0"/>
            <a:ext cx="6858000" cy="825448"/>
          </a:xfrm>
          <a:ln>
            <a:noFill/>
          </a:ln>
        </p:spPr>
        <p:txBody>
          <a:bodyPr/>
          <a:lstStyle/>
          <a:p>
            <a:pPr algn="ctr"/>
            <a:r>
              <a:rPr lang="en-GB" altLang="en-US" sz="2000" dirty="0"/>
              <a:t>Process-oriented:</a:t>
            </a:r>
            <a:br>
              <a:rPr lang="en-GB" altLang="en-US" sz="2000" dirty="0"/>
            </a:br>
            <a:r>
              <a:rPr lang="en-GB" altLang="en-US" sz="2000" dirty="0"/>
              <a:t>Issue-based information system (IBIS)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4FB98-BBE7-70CB-6974-96717AAD6F2C}"/>
              </a:ext>
            </a:extLst>
          </p:cNvPr>
          <p:cNvSpPr txBox="1"/>
          <p:nvPr/>
        </p:nvSpPr>
        <p:spPr>
          <a:xfrm>
            <a:off x="121146" y="1196752"/>
            <a:ext cx="394679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team meeting went like this: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should students log in?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Student ID and Password.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already familiar.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Google Login.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for students.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Counterargument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students do not have Google accounts.</a:t>
            </a: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+ 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52C3B-A7ED-F9EA-2C11-1E74A5614682}"/>
              </a:ext>
            </a:extLst>
          </p:cNvPr>
          <p:cNvSpPr txBox="1"/>
          <p:nvPr/>
        </p:nvSpPr>
        <p:spPr>
          <a:xfrm>
            <a:off x="4317540" y="1268760"/>
            <a:ext cx="457686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+ Password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 that we preserve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discussion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exactly what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IBIS (Issue-Based Information System)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F45CF-D18A-57F1-C3E4-E4B9E5FC9C4E}"/>
              </a:ext>
            </a:extLst>
          </p:cNvPr>
          <p:cNvSpPr txBox="1"/>
          <p:nvPr/>
        </p:nvSpPr>
        <p:spPr>
          <a:xfrm>
            <a:off x="4189090" y="3429000"/>
            <a:ext cx="4576864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called Process-Oriented?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records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thinking.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answers: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issue was raised?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alternatives were proposed?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argued for what?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was one option rejected?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the team finally decide?</a:t>
            </a:r>
          </a:p>
        </p:txBody>
      </p:sp>
    </p:spTree>
    <p:extLst>
      <p:ext uri="{BB962C8B-B14F-4D97-AF65-F5344CB8AC3E}">
        <p14:creationId xmlns:p14="http://schemas.microsoft.com/office/powerpoint/2010/main" val="1356817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0FC5-5C0D-7A24-DAE1-40A2E224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8B6285-BBC6-D710-0DF4-4A7672AE280C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79BAD-34DB-33D9-AA6D-DE5C82FDA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220" y="0"/>
            <a:ext cx="7416824" cy="825448"/>
          </a:xfrm>
          <a:ln>
            <a:noFill/>
          </a:ln>
        </p:spPr>
        <p:txBody>
          <a:bodyPr/>
          <a:lstStyle/>
          <a:p>
            <a:pPr algn="ctr"/>
            <a:r>
              <a:rPr lang="en-GB" altLang="en-US" sz="2000" dirty="0"/>
              <a:t>Structure-oriented:</a:t>
            </a:r>
            <a:br>
              <a:rPr lang="en-GB" altLang="en-US" sz="2000" dirty="0"/>
            </a:br>
            <a:r>
              <a:rPr lang="en-GB" altLang="en-US" sz="2000" dirty="0"/>
              <a:t>Design Space Analysis through QOC (Question Option Criteria)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F62DB-22F7-194A-E3B8-1896170D8960}"/>
              </a:ext>
            </a:extLst>
          </p:cNvPr>
          <p:cNvSpPr txBox="1"/>
          <p:nvPr/>
        </p:nvSpPr>
        <p:spPr>
          <a:xfrm>
            <a:off x="2924436" y="1196752"/>
            <a:ext cx="352839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should students log in?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+ Password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Login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Time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EEC2DE-E660-11D0-07C6-49F35361280D}"/>
              </a:ext>
            </a:extLst>
          </p:cNvPr>
          <p:cNvGraphicFramePr>
            <a:graphicFrameLocks noGrp="1"/>
          </p:cNvGraphicFramePr>
          <p:nvPr/>
        </p:nvGraphicFramePr>
        <p:xfrm>
          <a:off x="980220" y="5013176"/>
          <a:ext cx="7416824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4206">
                  <a:extLst>
                    <a:ext uri="{9D8B030D-6E8A-4147-A177-3AD203B41FA5}">
                      <a16:colId xmlns:a16="http://schemas.microsoft.com/office/drawing/2014/main" val="2072198969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4044654388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1894455956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3151402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830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410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62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638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592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AA74-DE91-808F-2A3F-BB4A401D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30D84B-9BB2-907D-EF85-3DF2F0F3FFD8}"/>
              </a:ext>
            </a:extLst>
          </p:cNvPr>
          <p:cNvSpPr txBox="1"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871A999-32FE-29F2-47C8-9CCAE01FB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-77552"/>
            <a:ext cx="6858000" cy="1143000"/>
          </a:xfrm>
        </p:spPr>
        <p:txBody>
          <a:bodyPr/>
          <a:lstStyle/>
          <a:p>
            <a:pPr algn="ctr"/>
            <a:r>
              <a:rPr lang="en-GB" altLang="en-US" dirty="0"/>
              <a:t>Design rationale (cont’d)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A403A3-95D8-42F4-024A-C0E6780B9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419883"/>
              </p:ext>
            </p:extLst>
          </p:nvPr>
        </p:nvGraphicFramePr>
        <p:xfrm>
          <a:off x="685800" y="2255520"/>
          <a:ext cx="7772400" cy="2468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62513652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64326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6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the decision-making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Organizes the final design alternatives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22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the sequence of discussions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the sequence of discussions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706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arguments and debates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comparing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15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Answers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"How did we decide?"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Answers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"Which option is best?"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36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IBIS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QOC (Design Space Analysis)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7564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933D66E-62C2-BFCB-4FF3-9736C6F44DF0}"/>
              </a:ext>
            </a:extLst>
          </p:cNvPr>
          <p:cNvSpPr txBox="1"/>
          <p:nvPr/>
        </p:nvSpPr>
        <p:spPr>
          <a:xfrm>
            <a:off x="2850204" y="838974"/>
            <a:ext cx="4576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272358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34262FC-5E50-E1CB-1619-CB45DC474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Psychological Design Rationale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29CD10D-1647-2D2E-6108-2B42D3646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16832"/>
            <a:ext cx="7772400" cy="1224136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en-US" sz="1800" dirty="0"/>
              <a:t>Psychological Design Rationale is a design approach that focuses on understanding how users think and behave while using a system, and then improving the design based on those observations.</a:t>
            </a:r>
            <a:endParaRPr lang="en-GB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B1B20-D633-577A-536B-54D22FB440AB}"/>
              </a:ext>
            </a:extLst>
          </p:cNvPr>
          <p:cNvSpPr txBox="1"/>
          <p:nvPr/>
        </p:nvSpPr>
        <p:spPr>
          <a:xfrm>
            <a:off x="1907704" y="3573016"/>
            <a:ext cx="4576864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Task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Usage Scenario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Users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Why Users Behave That Way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Design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Again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36DA-4802-995E-23E3-860B8A95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F8793C9-E76C-0382-E912-F84719C1A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9632" y="2636912"/>
            <a:ext cx="6858000" cy="1143000"/>
          </a:xfrm>
        </p:spPr>
        <p:txBody>
          <a:bodyPr/>
          <a:lstStyle/>
          <a:p>
            <a:pPr algn="ctr"/>
            <a:r>
              <a:rPr lang="en-GB" alt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932783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1220</Words>
  <Application>Microsoft Office PowerPoint</Application>
  <PresentationFormat>On-screen Show (4:3)</PresentationFormat>
  <Paragraphs>304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Comic Sans MS</vt:lpstr>
      <vt:lpstr>Times</vt:lpstr>
      <vt:lpstr>Times New Roman</vt:lpstr>
      <vt:lpstr>Verdana</vt:lpstr>
      <vt:lpstr>Wingdings</vt:lpstr>
      <vt:lpstr>Blank</vt:lpstr>
      <vt:lpstr>PowerPoint Presentation</vt:lpstr>
      <vt:lpstr>PowerPoint Presentation</vt:lpstr>
      <vt:lpstr>chapter 6</vt:lpstr>
      <vt:lpstr>HCI in the software process</vt:lpstr>
      <vt:lpstr>the software lifecycle</vt:lpstr>
      <vt:lpstr>PowerPoint Presentation</vt:lpstr>
      <vt:lpstr>The waterfall model</vt:lpstr>
      <vt:lpstr>PowerPoint Presentation</vt:lpstr>
      <vt:lpstr>Usability engineering</vt:lpstr>
      <vt:lpstr>The life cycle for interactive systems</vt:lpstr>
      <vt:lpstr>ISO usability standard 9241</vt:lpstr>
      <vt:lpstr>PowerPoint Presentation</vt:lpstr>
      <vt:lpstr>Verification and validation</vt:lpstr>
      <vt:lpstr>PowerPoint Presentation</vt:lpstr>
      <vt:lpstr>Iterative design and prototyping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rationale</vt:lpstr>
      <vt:lpstr>Design rationale (cont’d)</vt:lpstr>
      <vt:lpstr>Design rationale (cont’d)</vt:lpstr>
      <vt:lpstr>Process-oriented: Issue-based information system (IBIS)</vt:lpstr>
      <vt:lpstr>Structure-oriented: Design Space Analysis through QOC (Question Option Criteria)</vt:lpstr>
      <vt:lpstr>Design rationale (cont’d)</vt:lpstr>
      <vt:lpstr>Psychological Design Rationale</vt:lpstr>
      <vt:lpstr>THANK YOU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Mobile Apps Lab 06</cp:lastModifiedBy>
  <cp:revision>39</cp:revision>
  <dcterms:created xsi:type="dcterms:W3CDTF">2003-08-07T14:10:51Z</dcterms:created>
  <dcterms:modified xsi:type="dcterms:W3CDTF">2026-09-20T02:38:09Z</dcterms:modified>
</cp:coreProperties>
</file>