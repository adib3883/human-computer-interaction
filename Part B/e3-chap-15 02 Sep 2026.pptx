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DB9FC-58A6-43BF-B7E0-24B4BD52233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2599E-8A1B-42A7-8DA0-CAAE17A81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4D56-A5D9-4C09-A4CE-D4EC6BC2E56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1553-54E3-4F9A-A583-E1A555E7A5D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C3941-627C-4A16-A2DF-F23923B0C62A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18FB-8083-4D96-97FC-D024DCD2A0E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4CAE6-DE64-44B3-954B-8615F2E7D2E0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87B-E62F-45A5-B89A-8FCB8F86A98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197-FA77-44D6-B5F6-CC317D38A12F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DA5-A1C8-46C1-9EF2-A9A91A7D5B5B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22FC-3846-4F43-A881-E40B95038271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BCE9-C076-4846-9F5D-4DFC3880EDA4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023E-0794-45ED-9091-21AA9CD9A2C1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C9F2E-E08C-4B7A-A13E-61D2648A833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000750"/>
            <a:ext cx="11049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52811"/>
            <a:ext cx="1160145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0" i="0" u="none">
                <a:solidFill>
                  <a:srgbClr val="FFFFFF"/>
                </a:solidFill>
                <a:latin typeface="Outfit ExtraBold"/>
              </a:rPr>
              <a:t>Chapter 15:</a:t>
            </a:r>
            <a:r>
              <a:t>
</a:t>
            </a:r>
            <a:r>
              <a:rPr sz="4800" b="0" i="0" u="none">
                <a:solidFill>
                  <a:srgbClr val="FFFFFF"/>
                </a:solidFill>
                <a:latin typeface="Outfit ExtraBold"/>
              </a:rPr>
              <a:t> Task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84252"/>
            <a:ext cx="76200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C7D2FE"/>
                </a:solidFill>
                <a:latin typeface="Plus Jakarta Sans"/>
              </a:rPr>
              <a:t>Analyzing how people perform real-world tasks to inform interactive system design &amp; interaction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200775"/>
            <a:ext cx="2828925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A5B4FC"/>
                </a:solidFill>
                <a:latin typeface="Plus Jakarta Sans"/>
              </a:rPr>
              <a:t>Human-Computer Interaction (3rd Ed.)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6175" y="6200775"/>
            <a:ext cx="1866900" cy="1809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A5B4FC"/>
                </a:solidFill>
                <a:latin typeface="Plus Jakarta Sans"/>
              </a:rPr>
              <a:t>Dix, Finlay, Abowd, Beale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229350"/>
            <a:ext cx="1619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175" y="6229350"/>
            <a:ext cx="180975" cy="14287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24BF09E-F01A-9051-9F65-F49A359B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What is Task Analysis?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205037"/>
            <a:ext cx="5600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293B"/>
                </a:solidFill>
                <a:latin typeface="Outfit"/>
              </a:rPr>
              <a:t>Understanding Human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33637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Task Analysis is the structured process of studying how people perform jobs—identifying the actions they take, the tools they interact with, and the knowledge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9566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What people do: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Workflows, subtask sequences, and execution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4336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What things they work with: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Physical/digital artifacts, controls, and environmental objects.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9106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What they must know: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Domain concepts, operational rules, and procedural frameworks.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14712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62412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710112"/>
            <a:ext cx="114300" cy="142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FA7A64-FE90-B47D-CB11-483A16B42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870" y="1994376"/>
            <a:ext cx="4993630" cy="3178968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DB5C7E3-BD14-5A38-3E86-9DF74D9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75"/>
            <a:ext cx="3530500" cy="268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2428875"/>
            <a:ext cx="3530649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0" y="2428875"/>
            <a:ext cx="3530500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7241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27241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975" y="272415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Three Core Types (Sequentially)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71850"/>
            <a:ext cx="320696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1B4B"/>
                </a:solidFill>
                <a:latin typeface="Outfit"/>
              </a:rPr>
              <a:t>Task Decomposition (H</a:t>
            </a:r>
            <a:r>
              <a:rPr lang="en-US" sz="1500" b="1" i="0" u="none" dirty="0">
                <a:solidFill>
                  <a:srgbClr val="1E1B4B"/>
                </a:solidFill>
                <a:latin typeface="Outfit"/>
              </a:rPr>
              <a:t>ierarchy Task Analysis</a:t>
            </a:r>
            <a:r>
              <a:rPr sz="1500" b="1" i="0" u="none" dirty="0">
                <a:solidFill>
                  <a:srgbClr val="1E1B4B"/>
                </a:solidFill>
                <a:latin typeface="Outfit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62400"/>
            <a:ext cx="3054250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Breaks high-level goals into an ordered hierarchy of subtasks and execution plans (e.g., UNIPLEX automation menu/task hierarchy).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371850"/>
            <a:ext cx="28544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Outfit"/>
              </a:rPr>
              <a:t>Knowledge-Based Task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3724275"/>
            <a:ext cx="30543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Focuses on what the user knows about the task domain and how that knowledge is structured logically (e.g., Task Description Hierarchy / TDH).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975" y="3371850"/>
            <a:ext cx="259844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Outfit"/>
              </a:rPr>
              <a:t>Entity/Object-Based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3724275"/>
            <a:ext cx="3054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Analyzes relationships between actors, objects, actions, and events in the task environment (e.g., Entity-Relationship techniques).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EB73C83-2AF7-177F-4CF4-83595D29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28912"/>
            <a:ext cx="11049000" cy="2085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Task Analysis vs. Other Techniques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738437"/>
          <a:ext cx="11029948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6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Technique Pair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Primary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Secondary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HCI Key Distinction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Systems Analysis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vs. </a:t>
                      </a:r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Task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System architecture &amp; software data 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The human user &amp; real-world tasks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Task Analysis centers on user goals rather than system processing limits.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Cognitive Models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vs. </a:t>
                      </a:r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Task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Internal mental states &amp; cognitive load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External observable actions &amp; full jobs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Task Analysis focuses on complete real-world jobs, not just unit mental tasks.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4038600"/>
            <a:ext cx="22084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9485" y="4038600"/>
            <a:ext cx="25305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20010" y="4038600"/>
            <a:ext cx="23641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4144" y="4038600"/>
            <a:ext cx="39268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791075"/>
            <a:ext cx="22084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9485" y="4791075"/>
            <a:ext cx="25305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20010" y="4791075"/>
            <a:ext cx="23641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4144" y="4791075"/>
            <a:ext cx="39268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CD1AEA-E74F-2A44-35F4-5FAA371D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80072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1. Task Decomposition (HTA)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10752"/>
            <a:ext cx="5638799" cy="634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57487"/>
            <a:ext cx="5800725" cy="216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 dirty="0">
                <a:solidFill>
                  <a:srgbClr val="1E293B"/>
                </a:solidFill>
                <a:latin typeface="Outfit"/>
              </a:rPr>
              <a:t>HTA &amp; </a:t>
            </a:r>
            <a:r>
              <a:rPr lang="en-US" sz="1404" b="1" i="0" u="none" dirty="0">
                <a:solidFill>
                  <a:srgbClr val="1E293B"/>
                </a:solidFill>
                <a:latin typeface="Outfit"/>
              </a:rPr>
              <a:t>Office</a:t>
            </a:r>
            <a:r>
              <a:rPr sz="1404" b="1" i="0" u="none" dirty="0">
                <a:solidFill>
                  <a:srgbClr val="1E293B"/>
                </a:solidFill>
                <a:latin typeface="Outfit"/>
              </a:rPr>
              <a:t>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86087"/>
            <a:ext cx="5524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Decomposes a main goal into ordered subtasks alongside explicit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Plans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describing execution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00437"/>
            <a:ext cx="5524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Key Principles: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57612"/>
            <a:ext cx="5524500" cy="751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• </a:t>
            </a:r>
            <a:r>
              <a:rPr lang="en-US" sz="1350" b="1" i="0" u="none" dirty="0">
                <a:solidFill>
                  <a:srgbClr val="475569"/>
                </a:solidFill>
                <a:latin typeface="Plus Jakarta Sans"/>
              </a:rPr>
              <a:t>Office Application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 Model: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Deconstructs complex workflows into hierarchical sub-menus and command tasks.</a:t>
            </a:r>
            <a:r>
              <a:rPr dirty="0"/>
              <a:t>
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Execution Plans: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Specify fixed, optional, or discretionary subtask sequences.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225D09-0EE6-07B2-ED71-A602BEB4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HTA Parsing Example: Cleaning House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2333625"/>
            <a:ext cx="11049000" cy="604837"/>
          </a:xfrm>
          <a:prstGeom prst="roundRect">
            <a:avLst>
              <a:gd name="adj" fmla="val 18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3052762"/>
            <a:ext cx="11049000" cy="604837"/>
          </a:xfrm>
          <a:prstGeom prst="roundRect">
            <a:avLst>
              <a:gd name="adj" fmla="val 18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3771900"/>
            <a:ext cx="11049000" cy="604837"/>
          </a:xfrm>
          <a:prstGeom prst="roundRect">
            <a:avLst>
              <a:gd name="adj" fmla="val 18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500" y="4491037"/>
            <a:ext cx="11049000" cy="604837"/>
          </a:xfrm>
          <a:prstGeom prst="roundRect">
            <a:avLst>
              <a:gd name="adj" fmla="val 18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9289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6480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43672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50863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528887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525" y="2514600"/>
            <a:ext cx="47244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Plus Jakarta Sans"/>
              </a:rPr>
              <a:t>0. In order to clean the house:</a:t>
            </a:r>
            <a:r>
              <a:rPr sz="1275" b="0" i="0" u="none" dirty="0">
                <a:solidFill>
                  <a:srgbClr val="475569"/>
                </a:solidFill>
                <a:latin typeface="Plus Jakarta Sans"/>
              </a:rPr>
              <a:t> Main high-level goal statement.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248025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525" y="3233737"/>
            <a:ext cx="78009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1. Get vacuum cleaner out &amp; 2. Get appropriate attachment: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Sequential preparation subtasks (Plan 0).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967162"/>
            <a:ext cx="21907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1100" y="3952875"/>
            <a:ext cx="86296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3. Clean rooms: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Decomposed further into 3.1 Hallway, 3.2 Living room, 3.3 Bedrooms (Plan 3: Discretionary order).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686300"/>
            <a:ext cx="190500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525" y="4672012"/>
            <a:ext cx="8039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4. Empty dust bag &amp; 5. Put vacuum away: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Event-driven interrupt task when full, followed by storage task.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6D676A1-26DA-1D50-3568-E7EBCF96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E1B4B"/>
                </a:solidFill>
                <a:latin typeface="Outfit"/>
              </a:rPr>
              <a:t>2. Knowledge-Based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81923E2-A615-86D6-2C09-4FFAAFA3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2B53A6-5A03-858B-7971-C0BE84C94AAE}"/>
              </a:ext>
            </a:extLst>
          </p:cNvPr>
          <p:cNvSpPr txBox="1"/>
          <p:nvPr/>
        </p:nvSpPr>
        <p:spPr>
          <a:xfrm>
            <a:off x="956945" y="901777"/>
            <a:ext cx="10830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Plus Jakarta Sans"/>
              </a:rPr>
              <a:t>Specialized information and concepts a user needs to know to complete a job, rather than just tracking physical steps.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1E2BCE-0E26-AA04-FFAC-B0335CFC6A22}"/>
              </a:ext>
            </a:extLst>
          </p:cNvPr>
          <p:cNvSpPr txBox="1"/>
          <p:nvPr/>
        </p:nvSpPr>
        <p:spPr>
          <a:xfrm>
            <a:off x="975360" y="1620917"/>
            <a:ext cx="1094232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Plus Jakarta Sans"/>
              </a:rPr>
              <a:t>Core Concepts</a:t>
            </a:r>
          </a:p>
          <a:p>
            <a:pPr marL="800100" lvl="1" indent="-34290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Plus Jakarta Sans"/>
              </a:rPr>
              <a:t>Focus on Domains: It looks at the objects, actions, and relationships involved in a task domain instead of strict procedural order.</a:t>
            </a:r>
          </a:p>
          <a:p>
            <a:pPr marL="800100" lvl="1" indent="-34290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Plus Jakarta Sans"/>
              </a:rPr>
              <a:t>Taxonomies: It builds hierarchies or categorization maps of what information a person must understand.</a:t>
            </a:r>
          </a:p>
          <a:p>
            <a:pPr marL="800100" lvl="1" indent="-34290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Plus Jakarta Sans"/>
              </a:rPr>
              <a:t>Knowledge Requirements: It identifies prerequisite facts, terminology, and concepts necessary for expert performance.</a:t>
            </a:r>
          </a:p>
        </p:txBody>
      </p:sp>
      <p:pic>
        <p:nvPicPr>
          <p:cNvPr id="20" name="Picture 19" descr="knowledge based analysis">
            <a:extLst>
              <a:ext uri="{FF2B5EF4-FFF2-40B4-BE49-F238E27FC236}">
                <a16:creationId xmlns:a16="http://schemas.microsoft.com/office/drawing/2014/main" id="{037A00B8-7EF1-8405-C34A-64467691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59" t="47728" r="12222" b="8025"/>
          <a:stretch>
            <a:fillRect/>
          </a:stretch>
        </p:blipFill>
        <p:spPr>
          <a:xfrm>
            <a:off x="6918960" y="4450080"/>
            <a:ext cx="5110480" cy="22758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E1B4B"/>
                </a:solidFill>
                <a:latin typeface="Outfit"/>
              </a:rPr>
              <a:t>3. Entity/Object-Based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C4747D5-E092-ED91-938E-255034FF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6ABD2A-0475-3D4B-A4B3-C669838700E8}"/>
              </a:ext>
            </a:extLst>
          </p:cNvPr>
          <p:cNvSpPr txBox="1"/>
          <p:nvPr/>
        </p:nvSpPr>
        <p:spPr>
          <a:xfrm>
            <a:off x="883920" y="1330028"/>
            <a:ext cx="1004824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Outfit"/>
              </a:rPr>
              <a:t>Example: Online Shopping 🛒</a:t>
            </a:r>
          </a:p>
          <a:p>
            <a:pPr marL="0" marR="0" indent="0" algn="l">
              <a:buNone/>
            </a:pPr>
            <a:endParaRPr lang="en-US" sz="1600" b="1" dirty="0">
              <a:solidFill>
                <a:srgbClr val="1E293B"/>
              </a:solidFill>
              <a:latin typeface="Outfi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E293B"/>
              </a:solidFill>
              <a:latin typeface="Outfit"/>
            </a:endParaRPr>
          </a:p>
          <a:p>
            <a:pPr marR="0" lvl="0" algn="l"/>
            <a:r>
              <a:rPr lang="en-US" sz="1600" b="1" dirty="0">
                <a:solidFill>
                  <a:srgbClr val="1E293B"/>
                </a:solidFill>
                <a:latin typeface="Outfit"/>
              </a:rPr>
              <a:t>Entities/Objects: </a:t>
            </a:r>
            <a:r>
              <a:rPr lang="en-US" sz="1600" dirty="0">
                <a:solidFill>
                  <a:srgbClr val="1E293B"/>
                </a:solidFill>
                <a:latin typeface="Outfit"/>
              </a:rPr>
              <a:t>User, Product, Shopping Cart, Payment, Order</a:t>
            </a:r>
          </a:p>
          <a:p>
            <a:pPr marR="0" lvl="0" algn="l"/>
            <a:endParaRPr lang="en-US" sz="1600" b="1" dirty="0">
              <a:solidFill>
                <a:srgbClr val="1E293B"/>
              </a:solidFill>
              <a:latin typeface="Outfit"/>
            </a:endParaRPr>
          </a:p>
          <a:p>
            <a:pPr marR="0" lvl="0" algn="l"/>
            <a:r>
              <a:rPr lang="en-US" sz="1600" b="1" dirty="0">
                <a:solidFill>
                  <a:srgbClr val="1E293B"/>
                </a:solidFill>
                <a:latin typeface="Outfit"/>
              </a:rPr>
              <a:t>User Actions: </a:t>
            </a:r>
            <a:r>
              <a:rPr lang="en-US" sz="1600" dirty="0">
                <a:solidFill>
                  <a:srgbClr val="1E293B"/>
                </a:solidFill>
                <a:latin typeface="Outfit"/>
              </a:rPr>
              <a:t>Search Product → Select Product → Add to Cart → Checkout → Make Payment → Place Order</a:t>
            </a:r>
          </a:p>
          <a:p>
            <a:pPr marR="0" lvl="0" algn="l"/>
            <a:endParaRPr lang="en-US" sz="1600" dirty="0">
              <a:solidFill>
                <a:srgbClr val="1E293B"/>
              </a:solidFill>
              <a:latin typeface="Outfit"/>
            </a:endParaRPr>
          </a:p>
          <a:p>
            <a:pPr marR="0" lvl="0" algn="l"/>
            <a:r>
              <a:rPr lang="en-US" sz="1600" b="1" dirty="0">
                <a:solidFill>
                  <a:srgbClr val="1E293B"/>
                </a:solidFill>
                <a:latin typeface="Outfit"/>
              </a:rPr>
              <a:t>Relationships: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Outfit"/>
              </a:rPr>
              <a:t>User selects a Product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Outfit"/>
              </a:rPr>
              <a:t>Product is added to Shopping Cart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Outfit"/>
              </a:rPr>
              <a:t>User pays for Order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Outfit"/>
              </a:rPr>
              <a:t>Order contains selected Products</a:t>
            </a:r>
          </a:p>
          <a:p>
            <a:pPr marL="0" marR="0" indent="0" algn="l">
              <a:buNone/>
            </a:pPr>
            <a:endParaRPr lang="en-US" sz="1600" b="1" dirty="0">
              <a:solidFill>
                <a:srgbClr val="1E293B"/>
              </a:solidFill>
              <a:latin typeface="Outfit"/>
            </a:endParaRPr>
          </a:p>
          <a:p>
            <a:pPr marL="0" marR="0" indent="0" algn="l">
              <a:buNone/>
            </a:pPr>
            <a:endParaRPr lang="en-US" sz="1600" b="1" dirty="0">
              <a:solidFill>
                <a:srgbClr val="1E293B"/>
              </a:solidFill>
              <a:latin typeface="Outfit"/>
            </a:endParaRPr>
          </a:p>
          <a:p>
            <a:pPr marL="0" marR="0" indent="0" algn="l">
              <a:buNone/>
            </a:pPr>
            <a:endParaRPr lang="en-US" sz="1600" b="1" dirty="0">
              <a:solidFill>
                <a:srgbClr val="1E293B"/>
              </a:solidFill>
              <a:latin typeface="Outfit"/>
            </a:endParaRPr>
          </a:p>
          <a:p>
            <a:pPr marL="0" marR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Outfit"/>
              </a:rPr>
              <a:t>In simple terms:</a:t>
            </a:r>
            <a:br>
              <a:rPr lang="en-US" sz="1600" b="1" dirty="0">
                <a:solidFill>
                  <a:srgbClr val="1E293B"/>
                </a:solidFill>
                <a:latin typeface="Outfit"/>
              </a:rPr>
            </a:br>
            <a:r>
              <a:rPr lang="en-US" sz="1600" dirty="0">
                <a:solidFill>
                  <a:srgbClr val="1E293B"/>
                </a:solidFill>
                <a:latin typeface="Outfit"/>
              </a:rPr>
              <a:t>Objects = “What?” | Actions = “What do I do with it?”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66987"/>
            <a:ext cx="3530500" cy="2409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2566987"/>
            <a:ext cx="3530649" cy="2409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0" y="2566987"/>
            <a:ext cx="3530500" cy="2409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Sources of Task Information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862262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71862"/>
            <a:ext cx="13782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Outfit"/>
              </a:rP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24287"/>
            <a:ext cx="3054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Manuals and specs detail what is </a:t>
            </a:r>
            <a:r>
              <a:rPr sz="1125" b="0" i="1" u="none">
                <a:solidFill>
                  <a:srgbClr val="64748B"/>
                </a:solidFill>
                <a:latin typeface="Plus Jakarta Sans"/>
              </a:rPr>
              <a:t>supposed</a:t>
            </a:r>
            <a:r>
              <a:rPr sz="1125" b="0" i="0" u="none">
                <a:solidFill>
                  <a:srgbClr val="64748B"/>
                </a:solidFill>
                <a:latin typeface="Plus Jakarta Sans"/>
              </a:rPr>
              <a:t> to happen; excellent source for key domain vocabulary and interview prompts.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286226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725" y="3471862"/>
            <a:ext cx="111623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Outfit"/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824287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Formal or informal observation in laboratory or field settings reveals true user workarounds and actual behavior.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975" y="286226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7975" y="3471862"/>
            <a:ext cx="93027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Outfit"/>
              </a:rPr>
              <a:t>Interviews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3824287"/>
            <a:ext cx="3054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Asking domain experts (managers and workers). Transcripts are analyzed by extracting nouns (objects) and verbs (actions).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787" y="2995612"/>
            <a:ext cx="1428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7788" y="2995612"/>
            <a:ext cx="2190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7512" y="2995612"/>
            <a:ext cx="238125" cy="19050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E0FD841-8D16-F73F-ED7E-F0B09EF4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24150"/>
            <a:ext cx="5334000" cy="2095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24150"/>
            <a:ext cx="5334000" cy="209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1E1B4B"/>
                </a:solidFill>
                <a:latin typeface="Outfit"/>
              </a:rPr>
              <a:t>Applying Task Analysis in HCI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038475"/>
            <a:ext cx="49406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338CA"/>
                </a:solidFill>
                <a:latin typeface="Outfit"/>
              </a:rPr>
              <a:t>Documentation &amp; Manuals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76625"/>
            <a:ext cx="4705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Conceptual Manuals: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Built from knowledge/ER analysis; ideal for open-ended user exploration.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Procedural Manuals: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Built from HTA descriptions; step-by-step 'How-to' guides ideal for novices.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038475"/>
            <a:ext cx="49406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338CA"/>
                </a:solidFill>
                <a:latin typeface="Outfit"/>
              </a:rPr>
              <a:t>Requirements &amp;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76625"/>
            <a:ext cx="4705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Uncovers candidate tasks for automation.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Taxonomies directly suggest logical menu structures.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Task frequencies guide interface default choices.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Task sequences inform system dialogue design.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C3F30-9F51-337B-B034-DCB4EBF5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2400300"/>
            <a:ext cx="8001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200" b="1" i="0" u="none" dirty="0">
                <a:solidFill>
                  <a:srgbClr val="FFFFFF"/>
                </a:solidFill>
                <a:latin typeface="Outfit"/>
              </a:rPr>
              <a:t>Example</a:t>
            </a:r>
            <a:endParaRPr sz="4200" b="1" i="0" u="none" dirty="0">
              <a:solidFill>
                <a:srgbClr val="FFFFFF"/>
              </a:solidFill>
              <a:latin typeface="Outfit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729991"/>
            <a:ext cx="190500" cy="1714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1624A-2329-2693-22CE-F5B8F374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9CB459-2646-8335-B293-EC55E88E6AC7}"/>
              </a:ext>
            </a:extLst>
          </p:cNvPr>
          <p:cNvSpPr txBox="1"/>
          <p:nvPr/>
        </p:nvSpPr>
        <p:spPr>
          <a:xfrm>
            <a:off x="1911096" y="1112211"/>
            <a:ext cx="907999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UNIPLEX (MIST EMS)?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UNIPLEX at MIST is an 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tasks like:</a:t>
            </a:r>
          </a:p>
          <a:p>
            <a:pPr marL="154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 registration</a:t>
            </a:r>
          </a:p>
          <a:p>
            <a:pPr marL="154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 tracking</a:t>
            </a:r>
          </a:p>
          <a:p>
            <a:pPr marL="154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publishing</a:t>
            </a:r>
          </a:p>
          <a:p>
            <a:pPr marL="154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 submission</a:t>
            </a:r>
          </a:p>
          <a:p>
            <a:pPr marL="154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Faculty-student communication</a:t>
            </a:r>
          </a:p>
          <a:p>
            <a:pPr marL="154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routine management</a:t>
            </a:r>
          </a:p>
        </p:txBody>
      </p:sp>
    </p:spTree>
    <p:extLst>
      <p:ext uri="{BB962C8B-B14F-4D97-AF65-F5344CB8AC3E}">
        <p14:creationId xmlns:p14="http://schemas.microsoft.com/office/powerpoint/2010/main" val="608458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FE263D-D379-8BD5-81DD-0F8EF5CD1859}"/>
              </a:ext>
            </a:extLst>
          </p:cNvPr>
          <p:cNvSpPr txBox="1"/>
          <p:nvPr/>
        </p:nvSpPr>
        <p:spPr>
          <a:xfrm>
            <a:off x="3048762" y="51942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Task Analysis Applies to UNIPLEX  ???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8170D-BFC3-08A9-B81A-931A408F5E5A}"/>
              </a:ext>
            </a:extLst>
          </p:cNvPr>
          <p:cNvSpPr txBox="1"/>
          <p:nvPr/>
        </p:nvSpPr>
        <p:spPr>
          <a:xfrm>
            <a:off x="3806190" y="2238494"/>
            <a:ext cx="477088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(HTA) in UNIPLEX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Task Analysis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Entity/Object-Based Analysis</a:t>
            </a:r>
          </a:p>
        </p:txBody>
      </p:sp>
    </p:spTree>
    <p:extLst>
      <p:ext uri="{BB962C8B-B14F-4D97-AF65-F5344CB8AC3E}">
        <p14:creationId xmlns:p14="http://schemas.microsoft.com/office/powerpoint/2010/main" val="3417654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B2606-400F-520B-0980-4F84484132DF}"/>
              </a:ext>
            </a:extLst>
          </p:cNvPr>
          <p:cNvSpPr txBox="1"/>
          <p:nvPr/>
        </p:nvSpPr>
        <p:spPr>
          <a:xfrm>
            <a:off x="1170432" y="0"/>
            <a:ext cx="10607040" cy="710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(HTA) in UNIPLEX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Register for courses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Task Analysis (HTA):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for the semester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Subtasks: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1 → 2 → 3 → 4 → 5 in that order.</a:t>
            </a:r>
          </a:p>
          <a:p>
            <a:pPr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breakdown helps system designers ensure the interface supports the task sequence logically and clearly.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88E6E-E702-E4F6-D516-AEF2780A3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0" y="2183022"/>
            <a:ext cx="2864010" cy="1653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1C488A-A06C-69FA-D66C-CEFF63BCD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442" y="2095281"/>
            <a:ext cx="3787468" cy="1653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954389-39E2-6F72-8F13-7D77279FA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792" y="1695288"/>
            <a:ext cx="3208298" cy="24919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C480CC-DD5A-C93B-594B-A4C50426F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99" y="3958624"/>
            <a:ext cx="3101609" cy="18823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53C0C5-3312-53DF-DB74-204C66539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096" y="3958624"/>
            <a:ext cx="3619814" cy="16536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822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634AB2-005B-2974-7069-EE34BB8251E3}"/>
              </a:ext>
            </a:extLst>
          </p:cNvPr>
          <p:cNvSpPr txBox="1"/>
          <p:nvPr/>
        </p:nvSpPr>
        <p:spPr>
          <a:xfrm>
            <a:off x="1481328" y="1174879"/>
            <a:ext cx="977493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Task Analysis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Register for courses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successfully register or use UNIPLEX, a user (student) needs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credit requirements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 prerequisites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navigate the UNIPLEX dashboard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 codes and titles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Deadline for registration</a:t>
            </a:r>
          </a:p>
          <a:p>
            <a:pPr algn="just"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system should consider this knowledge – e.g., providing tooltips, course descriptions, credit summaries.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4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692DD4-EE0E-AFEC-B9F8-C8EFF3A89512}"/>
              </a:ext>
            </a:extLst>
          </p:cNvPr>
          <p:cNvGraphicFramePr>
            <a:graphicFrameLocks noGrp="1"/>
          </p:cNvGraphicFramePr>
          <p:nvPr/>
        </p:nvGraphicFramePr>
        <p:xfrm>
          <a:off x="2228088" y="3575304"/>
          <a:ext cx="9366504" cy="2194560"/>
        </p:xfrm>
        <a:graphic>
          <a:graphicData uri="http://schemas.openxmlformats.org/drawingml/2006/table">
            <a:tbl>
              <a:tblPr/>
              <a:tblGrid>
                <a:gridCol w="4683252">
                  <a:extLst>
                    <a:ext uri="{9D8B030D-6E8A-4147-A177-3AD203B41FA5}">
                      <a16:colId xmlns:a16="http://schemas.microsoft.com/office/drawing/2014/main" val="3508520692"/>
                    </a:ext>
                  </a:extLst>
                </a:gridCol>
                <a:gridCol w="4683252">
                  <a:extLst>
                    <a:ext uri="{9D8B030D-6E8A-4147-A177-3AD203B41FA5}">
                      <a16:colId xmlns:a16="http://schemas.microsoft.com/office/drawing/2014/main" val="4269917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Entity/Object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Associated Actions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313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profile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View, update, submit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19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Browse, select,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88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Upload, view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681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View, download, contest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517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Check, notify 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05985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2C679442-FD14-CB66-97D8-448456E17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375292"/>
            <a:ext cx="9272016" cy="219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Entity/Object-Based Analysis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Register for courses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UNIPLEX, key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 (objects)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map the system’s data models and understand how users interact with features.</a:t>
            </a:r>
          </a:p>
        </p:txBody>
      </p:sp>
    </p:spTree>
    <p:extLst>
      <p:ext uri="{BB962C8B-B14F-4D97-AF65-F5344CB8AC3E}">
        <p14:creationId xmlns:p14="http://schemas.microsoft.com/office/powerpoint/2010/main" val="294812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3AB58-3F23-22E0-B523-063206EB89F5}"/>
              </a:ext>
            </a:extLst>
          </p:cNvPr>
          <p:cNvSpPr txBox="1"/>
          <p:nvPr/>
        </p:nvSpPr>
        <p:spPr>
          <a:xfrm>
            <a:off x="1207770" y="1160631"/>
            <a:ext cx="1003935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Example for Discussion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Task: Submitting an Assignment via UNIPLEX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1838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18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steps do you follow?</a:t>
            </a:r>
          </a:p>
          <a:p>
            <a:pPr marL="20018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knowledge is required?</a:t>
            </a:r>
          </a:p>
          <a:p>
            <a:pPr marL="20018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objects and actions are involved?</a:t>
            </a:r>
          </a:p>
        </p:txBody>
      </p:sp>
    </p:spTree>
    <p:extLst>
      <p:ext uri="{BB962C8B-B14F-4D97-AF65-F5344CB8AC3E}">
        <p14:creationId xmlns:p14="http://schemas.microsoft.com/office/powerpoint/2010/main" val="3942777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6E7FD7-93EC-2C0D-0D2A-DEAFECDE5B6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60575"/>
          <a:ext cx="10515600" cy="181457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033536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1914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Analysis Method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UNIPLEX Example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122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Decomposition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Registering courses, uploading assignments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85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Knowing course codes, deadlines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93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Entity/Object-Based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course, assignment,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0986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718CDC3-2EE1-54F6-2AC1-C6B5CF465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01" y="532884"/>
            <a:ext cx="17559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</p:txBody>
      </p:sp>
    </p:spTree>
    <p:extLst>
      <p:ext uri="{BB962C8B-B14F-4D97-AF65-F5344CB8AC3E}">
        <p14:creationId xmlns:p14="http://schemas.microsoft.com/office/powerpoint/2010/main" val="348789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1096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Calibri</vt:lpstr>
      <vt:lpstr>Courier New</vt:lpstr>
      <vt:lpstr>Outfit</vt:lpstr>
      <vt:lpstr>Outfit ExtraBold</vt:lpstr>
      <vt:lpstr>Outfit SemiBold</vt:lpstr>
      <vt:lpstr>Plus Jakarta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cyber range</cp:lastModifiedBy>
  <cp:revision>21</cp:revision>
  <dcterms:created xsi:type="dcterms:W3CDTF">2013-01-27T09:14:16Z</dcterms:created>
  <dcterms:modified xsi:type="dcterms:W3CDTF">2026-09-01T07:33:58Z</dcterms:modified>
  <cp:category/>
</cp:coreProperties>
</file>